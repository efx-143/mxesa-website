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8"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B0D4"/>
    <a:srgbClr val="9BBB59"/>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36E94D-B36E-43F6-B6FE-B6CCBB806B4E}" v="72" dt="2026-09-07T07:13:06.275"/>
    <p1510:client id="{8767EAC5-85D2-4590-B789-D278A4C2DF1B}" v="17" dt="2026-09-07T14:22:01.70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77"/>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yargal" userId="4dae5823886f505e" providerId="LiveId" clId="{26CF02F9-D2D6-49B8-B9ED-8CB151A7D148}"/>
    <pc:docChg chg="undo custSel modSld modMainMaster">
      <pc:chgData name="omkar yargal" userId="4dae5823886f505e" providerId="LiveId" clId="{26CF02F9-D2D6-49B8-B9ED-8CB151A7D148}" dt="2026-09-07T14:22:01.705" v="110"/>
      <pc:docMkLst>
        <pc:docMk/>
      </pc:docMkLst>
      <pc:sldChg chg="modSp mod modTransition">
        <pc:chgData name="omkar yargal" userId="4dae5823886f505e" providerId="LiveId" clId="{26CF02F9-D2D6-49B8-B9ED-8CB151A7D148}" dt="2026-09-07T14:22:01.705" v="110"/>
        <pc:sldMkLst>
          <pc:docMk/>
          <pc:sldMk cId="0" sldId="281"/>
        </pc:sldMkLst>
        <pc:spChg chg="mod">
          <ac:chgData name="omkar yargal" userId="4dae5823886f505e" providerId="LiveId" clId="{26CF02F9-D2D6-49B8-B9ED-8CB151A7D148}" dt="2026-09-07T14:17:04.481" v="79" actId="14100"/>
          <ac:spMkLst>
            <pc:docMk/>
            <pc:sldMk cId="0" sldId="281"/>
            <ac:spMk id="10" creationId="{5DBCE864-823D-4A13-9607-5DA1F0ED5FB8}"/>
          </ac:spMkLst>
        </pc:spChg>
        <pc:spChg chg="mod">
          <ac:chgData name="omkar yargal" userId="4dae5823886f505e" providerId="LiveId" clId="{26CF02F9-D2D6-49B8-B9ED-8CB151A7D148}" dt="2026-09-07T14:15:08.614" v="70" actId="14100"/>
          <ac:spMkLst>
            <pc:docMk/>
            <pc:sldMk cId="0" sldId="281"/>
            <ac:spMk id="32" creationId="{0DC739D5-DBEE-980E-763D-5EC8EF25F874}"/>
          </ac:spMkLst>
        </pc:spChg>
      </pc:sldChg>
      <pc:sldChg chg="addSp delSp modSp mod modTransition">
        <pc:chgData name="omkar yargal" userId="4dae5823886f505e" providerId="LiveId" clId="{26CF02F9-D2D6-49B8-B9ED-8CB151A7D148}" dt="2026-09-07T14:22:01.705" v="110"/>
        <pc:sldMkLst>
          <pc:docMk/>
          <pc:sldMk cId="0" sldId="290"/>
        </pc:sldMkLst>
        <pc:spChg chg="add del mod">
          <ac:chgData name="omkar yargal" userId="4dae5823886f505e" providerId="LiveId" clId="{26CF02F9-D2D6-49B8-B9ED-8CB151A7D148}" dt="2026-09-07T14:17:13.198" v="82" actId="478"/>
          <ac:spMkLst>
            <pc:docMk/>
            <pc:sldMk cId="0" sldId="290"/>
            <ac:spMk id="3" creationId="{B2AA6A21-14FC-1BB6-CDF0-2834CBE60285}"/>
          </ac:spMkLst>
        </pc:spChg>
        <pc:spChg chg="add">
          <ac:chgData name="omkar yargal" userId="4dae5823886f505e" providerId="LiveId" clId="{26CF02F9-D2D6-49B8-B9ED-8CB151A7D148}" dt="2026-09-07T14:17:13.811" v="83" actId="22"/>
          <ac:spMkLst>
            <pc:docMk/>
            <pc:sldMk cId="0" sldId="290"/>
            <ac:spMk id="9" creationId="{DD91B65F-932D-AA6D-D298-0444703DF49D}"/>
          </ac:spMkLst>
        </pc:spChg>
        <pc:spChg chg="del">
          <ac:chgData name="omkar yargal" userId="4dae5823886f505e" providerId="LiveId" clId="{26CF02F9-D2D6-49B8-B9ED-8CB151A7D148}" dt="2026-09-07T14:15:21.912" v="72" actId="478"/>
          <ac:spMkLst>
            <pc:docMk/>
            <pc:sldMk cId="0" sldId="290"/>
            <ac:spMk id="11" creationId="{5DBCE864-823D-4A13-9607-5DA1F0ED5FB8}"/>
          </ac:spMkLst>
        </pc:spChg>
      </pc:sldChg>
      <pc:sldChg chg="modSp mod modTransition">
        <pc:chgData name="omkar yargal" userId="4dae5823886f505e" providerId="LiveId" clId="{26CF02F9-D2D6-49B8-B9ED-8CB151A7D148}" dt="2026-09-07T14:22:01.705" v="110"/>
        <pc:sldMkLst>
          <pc:docMk/>
          <pc:sldMk cId="0" sldId="291"/>
        </pc:sldMkLst>
        <pc:spChg chg="mod">
          <ac:chgData name="omkar yargal" userId="4dae5823886f505e" providerId="LiveId" clId="{26CF02F9-D2D6-49B8-B9ED-8CB151A7D148}" dt="2026-09-07T14:18:48.384" v="93" actId="20577"/>
          <ac:spMkLst>
            <pc:docMk/>
            <pc:sldMk cId="0" sldId="291"/>
            <ac:spMk id="10" creationId="{00000000-0000-0000-0000-000000000000}"/>
          </ac:spMkLst>
        </pc:spChg>
      </pc:sldChg>
      <pc:sldChg chg="addSp delSp mod modTransition">
        <pc:chgData name="omkar yargal" userId="4dae5823886f505e" providerId="LiveId" clId="{26CF02F9-D2D6-49B8-B9ED-8CB151A7D148}" dt="2026-09-07T14:22:01.705" v="110"/>
        <pc:sldMkLst>
          <pc:docMk/>
          <pc:sldMk cId="3753387913" sldId="293"/>
        </pc:sldMkLst>
        <pc:spChg chg="add">
          <ac:chgData name="omkar yargal" userId="4dae5823886f505e" providerId="LiveId" clId="{26CF02F9-D2D6-49B8-B9ED-8CB151A7D148}" dt="2026-09-07T14:17:52.465" v="85" actId="22"/>
          <ac:spMkLst>
            <pc:docMk/>
            <pc:sldMk cId="3753387913" sldId="293"/>
            <ac:spMk id="3" creationId="{BB96CB6E-E1E5-DFDE-D7E2-B76DF20583B7}"/>
          </ac:spMkLst>
        </pc:spChg>
        <pc:spChg chg="del">
          <ac:chgData name="omkar yargal" userId="4dae5823886f505e" providerId="LiveId" clId="{26CF02F9-D2D6-49B8-B9ED-8CB151A7D148}" dt="2026-09-07T14:17:51.792" v="84" actId="478"/>
          <ac:spMkLst>
            <pc:docMk/>
            <pc:sldMk cId="3753387913" sldId="293"/>
            <ac:spMk id="12" creationId="{5DBCE864-823D-4A13-9607-5DA1F0ED5FB8}"/>
          </ac:spMkLst>
        </pc:spChg>
      </pc:sldChg>
      <pc:sldChg chg="addSp delSp mod modTransition">
        <pc:chgData name="omkar yargal" userId="4dae5823886f505e" providerId="LiveId" clId="{26CF02F9-D2D6-49B8-B9ED-8CB151A7D148}" dt="2026-09-07T14:22:01.705" v="110"/>
        <pc:sldMkLst>
          <pc:docMk/>
          <pc:sldMk cId="3916788613" sldId="296"/>
        </pc:sldMkLst>
        <pc:spChg chg="add">
          <ac:chgData name="omkar yargal" userId="4dae5823886f505e" providerId="LiveId" clId="{26CF02F9-D2D6-49B8-B9ED-8CB151A7D148}" dt="2026-09-07T14:18:14.321" v="92" actId="22"/>
          <ac:spMkLst>
            <pc:docMk/>
            <pc:sldMk cId="3916788613" sldId="296"/>
            <ac:spMk id="3" creationId="{1E54818F-91ED-8EEA-D786-DBF13298DF39}"/>
          </ac:spMkLst>
        </pc:spChg>
        <pc:spChg chg="del">
          <ac:chgData name="omkar yargal" userId="4dae5823886f505e" providerId="LiveId" clId="{26CF02F9-D2D6-49B8-B9ED-8CB151A7D148}" dt="2026-09-07T14:18:12.631" v="91" actId="478"/>
          <ac:spMkLst>
            <pc:docMk/>
            <pc:sldMk cId="3916788613" sldId="296"/>
            <ac:spMk id="9" creationId="{5DBCE864-823D-4A13-9607-5DA1F0ED5FB8}"/>
          </ac:spMkLst>
        </pc:spChg>
      </pc:sldChg>
      <pc:sldChg chg="addSp delSp modSp mod modTransition">
        <pc:chgData name="omkar yargal" userId="4dae5823886f505e" providerId="LiveId" clId="{26CF02F9-D2D6-49B8-B9ED-8CB151A7D148}" dt="2026-09-07T14:22:01.705" v="110"/>
        <pc:sldMkLst>
          <pc:docMk/>
          <pc:sldMk cId="2464442286" sldId="298"/>
        </pc:sldMkLst>
        <pc:spChg chg="add del">
          <ac:chgData name="omkar yargal" userId="4dae5823886f505e" providerId="LiveId" clId="{26CF02F9-D2D6-49B8-B9ED-8CB151A7D148}" dt="2026-09-07T14:18:00.353" v="88" actId="22"/>
          <ac:spMkLst>
            <pc:docMk/>
            <pc:sldMk cId="2464442286" sldId="298"/>
            <ac:spMk id="8" creationId="{454C9C6B-8956-4877-0247-E3D5F099FF43}"/>
          </ac:spMkLst>
        </pc:spChg>
        <pc:spChg chg="del mod">
          <ac:chgData name="omkar yargal" userId="4dae5823886f505e" providerId="LiveId" clId="{26CF02F9-D2D6-49B8-B9ED-8CB151A7D148}" dt="2026-09-07T14:18:03.081" v="89" actId="478"/>
          <ac:spMkLst>
            <pc:docMk/>
            <pc:sldMk cId="2464442286" sldId="298"/>
            <ac:spMk id="12" creationId="{45478534-36B6-1112-343F-CF6146D18BCC}"/>
          </ac:spMkLst>
        </pc:spChg>
        <pc:spChg chg="add">
          <ac:chgData name="omkar yargal" userId="4dae5823886f505e" providerId="LiveId" clId="{26CF02F9-D2D6-49B8-B9ED-8CB151A7D148}" dt="2026-09-07T14:18:03.842" v="90" actId="22"/>
          <ac:spMkLst>
            <pc:docMk/>
            <pc:sldMk cId="2464442286" sldId="298"/>
            <ac:spMk id="14" creationId="{A6186CB7-A308-1211-74EF-8AFDC17D636A}"/>
          </ac:spMkLst>
        </pc:spChg>
        <pc:picChg chg="mod">
          <ac:chgData name="omkar yargal" userId="4dae5823886f505e" providerId="LiveId" clId="{26CF02F9-D2D6-49B8-B9ED-8CB151A7D148}" dt="2026-09-07T08:40:34.290" v="1" actId="34135"/>
          <ac:picMkLst>
            <pc:docMk/>
            <pc:sldMk cId="2464442286" sldId="298"/>
            <ac:picMk id="21" creationId="{A305B320-BA91-1631-122D-BB07B621F33F}"/>
          </ac:picMkLst>
        </pc:picChg>
      </pc:sldChg>
      <pc:sldMasterChg chg="modTransition modSldLayout">
        <pc:chgData name="omkar yargal" userId="4dae5823886f505e" providerId="LiveId" clId="{26CF02F9-D2D6-49B8-B9ED-8CB151A7D148}" dt="2026-09-07T14:22:01.705" v="110"/>
        <pc:sldMasterMkLst>
          <pc:docMk/>
          <pc:sldMasterMk cId="0" sldId="2147483648"/>
        </pc:sldMasterMkLst>
        <pc:sldLayoutChg chg="modTransition">
          <pc:chgData name="omkar yargal" userId="4dae5823886f505e" providerId="LiveId" clId="{26CF02F9-D2D6-49B8-B9ED-8CB151A7D148}" dt="2026-09-07T14:22:01.705" v="110"/>
          <pc:sldLayoutMkLst>
            <pc:docMk/>
            <pc:sldMasterMk cId="0" sldId="2147483648"/>
            <pc:sldLayoutMk cId="0" sldId="2147483649"/>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0"/>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1"/>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2"/>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3"/>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4"/>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5"/>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6"/>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7"/>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8"/>
          </pc:sldLayoutMkLst>
        </pc:sldLayoutChg>
        <pc:sldLayoutChg chg="modTransition">
          <pc:chgData name="omkar yargal" userId="4dae5823886f505e" providerId="LiveId" clId="{26CF02F9-D2D6-49B8-B9ED-8CB151A7D148}" dt="2026-09-07T14:22:01.705" v="110"/>
          <pc:sldLayoutMkLst>
            <pc:docMk/>
            <pc:sldMasterMk cId="0" sldId="2147483648"/>
            <pc:sldLayoutMk cId="0" sldId="214748365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9/7/2026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671E6-D8E2-FEBF-2511-2D7E2E33196A}"/>
            </a:ext>
          </a:extLst>
        </p:cNvPr>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BB4DE345-E0D7-A211-457E-73893F9498A5}"/>
              </a:ext>
            </a:extLst>
          </p:cNvPr>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a:extLst>
              <a:ext uri="{FF2B5EF4-FFF2-40B4-BE49-F238E27FC236}">
                <a16:creationId xmlns:a16="http://schemas.microsoft.com/office/drawing/2014/main" id="{A96A4064-B512-60EB-9421-0364DE5A91B1}"/>
              </a:ext>
            </a:extLst>
          </p:cNvPr>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a:extLst>
              <a:ext uri="{FF2B5EF4-FFF2-40B4-BE49-F238E27FC236}">
                <a16:creationId xmlns:a16="http://schemas.microsoft.com/office/drawing/2014/main" id="{74DFE3EF-0B42-FDE2-3B7E-D9235B3A4C61}"/>
              </a:ext>
            </a:extLst>
          </p:cNvPr>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533992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9/7/2026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9/7/2026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9/7/2026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9/7/2026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9/7/2026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9/7/2026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9/7/2026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9/7/2026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9/7/2026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9/7/2026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9/7/2026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9/7/2026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hyperlink" Target="https://www.codingdefined.com/2017/03/create-nodejs-micro-service-for-your.html" TargetMode="External"/><Relationship Id="rId13"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hyperlink" Target="https://testwww.postgresql.fr/entreprises/accueil" TargetMode="External"/><Relationship Id="rId17" Type="http://schemas.openxmlformats.org/officeDocument/2006/relationships/hyperlink" Target="https://www.rawpixel.com/image/457469/free-illustration-image-access-art-black" TargetMode="External"/><Relationship Id="rId2" Type="http://schemas.openxmlformats.org/officeDocument/2006/relationships/notesSlide" Target="../notesSlides/notesSlide2.xml"/><Relationship Id="rId16" Type="http://schemas.microsoft.com/office/2007/relationships/hdphoto" Target="../media/hdphoto2.wdp"/><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hyperlink" Target="https://www.marinedatascience.co/software/" TargetMode="External"/><Relationship Id="rId4" Type="http://schemas.openxmlformats.org/officeDocument/2006/relationships/image" Target="../media/image4.jpeg"/><Relationship Id="rId9" Type="http://schemas.openxmlformats.org/officeDocument/2006/relationships/image" Target="../media/image7.png"/><Relationship Id="rId14" Type="http://schemas.openxmlformats.org/officeDocument/2006/relationships/hyperlink" Target="https://freepngimg.com/png/68646-app-ios-drive-cloud-vector-iphone-icloud"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hyperlink" Target="https://www.niti.gov.in/node/2207?utm_source=chatgpt.com" TargetMode="External"/><Relationship Id="rId3" Type="http://schemas.openxmlformats.org/officeDocument/2006/relationships/image" Target="../media/image2.png"/><Relationship Id="rId7" Type="http://schemas.openxmlformats.org/officeDocument/2006/relationships/hyperlink" Target="https://ieeexplore.ieee.org/document/10104718/"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oi.org/10.1016/j.techfore.2024.123206?utm_source=chatgpt.com" TargetMode="External"/><Relationship Id="rId5" Type="http://schemas.openxmlformats.org/officeDocument/2006/relationships/hyperlink" Target="https://www.niti.gov.in/node/2397?utm_source=chatgpt.com" TargetMode="External"/><Relationship Id="rId4" Type="http://schemas.openxmlformats.org/officeDocument/2006/relationships/hyperlink" Target="https://www.weforum.org/publications/the-future-of-jobs-report-2025/?utm_source=chatgpt.com" TargetMode="External"/><Relationship Id="rId9" Type="http://schemas.openxmlformats.org/officeDocument/2006/relationships/hyperlink" Target="https://doi.org/10.1016/j.heliyon.2023.e21023?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15815" y="1769740"/>
            <a:ext cx="3203509" cy="3426237"/>
          </a:xfrm>
          <a:prstGeom prst="rect">
            <a:avLst/>
          </a:prstGeom>
        </p:spPr>
      </p:pic>
      <p:sp>
        <p:nvSpPr>
          <p:cNvPr id="4" name="Subtitle 3"/>
          <p:cNvSpPr>
            <a:spLocks noGrp="1"/>
          </p:cNvSpPr>
          <p:nvPr>
            <p:ph type="subTitle" idx="1"/>
          </p:nvPr>
        </p:nvSpPr>
        <p:spPr>
          <a:xfrm>
            <a:off x="4460487" y="309135"/>
            <a:ext cx="2903527" cy="1509404"/>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mn-lt"/>
                <a:cs typeface="Times New Roman" panose="02020603050405020304" pitchFamily="18" charset="0"/>
              </a:rPr>
              <a:t>TITLE PAGE</a:t>
            </a:r>
            <a:endParaRPr lang="en-IN" b="1" dirty="0">
              <a:solidFill>
                <a:schemeClr val="tx1"/>
              </a:solidFill>
              <a:latin typeface="+mn-lt"/>
              <a:cs typeface="Times New Roman" panose="02020603050405020304" pitchFamily="18" charset="0"/>
            </a:endParaRPr>
          </a:p>
        </p:txBody>
      </p:sp>
      <p:sp>
        <p:nvSpPr>
          <p:cNvPr id="8" name="Title 7"/>
          <p:cNvSpPr>
            <a:spLocks noGrp="1"/>
          </p:cNvSpPr>
          <p:nvPr>
            <p:ph type="ctrTitle"/>
          </p:nvPr>
        </p:nvSpPr>
        <p:spPr>
          <a:xfrm>
            <a:off x="541811" y="-126082"/>
            <a:ext cx="10363200" cy="1357078"/>
          </a:xfrm>
        </p:spPr>
        <p:txBody>
          <a:bodyPr/>
          <a:lstStyle/>
          <a:p>
            <a:r>
              <a:rPr lang="en-US" sz="4000" b="1" dirty="0">
                <a:solidFill>
                  <a:schemeClr val="tx2"/>
                </a:solidFill>
                <a:latin typeface="+mj-lt"/>
              </a:rPr>
              <a:t>SMART INDIA HACKATHON 2026</a:t>
            </a:r>
            <a:endParaRPr lang="en-IN" sz="4000" b="1" dirty="0">
              <a:solidFill>
                <a:schemeClr val="tx2"/>
              </a:solidFill>
              <a:latin typeface="+mj-lt"/>
            </a:endParaRPr>
          </a:p>
        </p:txBody>
      </p:sp>
      <p:sp>
        <p:nvSpPr>
          <p:cNvPr id="10" name="TextBox 9"/>
          <p:cNvSpPr txBox="1"/>
          <p:nvPr/>
        </p:nvSpPr>
        <p:spPr>
          <a:xfrm>
            <a:off x="191114" y="1077489"/>
            <a:ext cx="6624701" cy="5055999"/>
          </a:xfrm>
          <a:prstGeom prst="rect">
            <a:avLst/>
          </a:prstGeom>
          <a:noFill/>
        </p:spPr>
        <p:txBody>
          <a:bodyPr wrap="square" rtlCol="0">
            <a:spAutoFit/>
          </a:bodyPr>
          <a:lstStyle/>
          <a:p>
            <a:endParaRPr lang="en-US" dirty="0"/>
          </a:p>
          <a:p>
            <a:pPr marL="285750" indent="-285750" algn="just">
              <a:lnSpc>
                <a:spcPct val="100000"/>
              </a:lnSpc>
              <a:buFont typeface="Arial" panose="020B0604020202020204" pitchFamily="34" charset="0"/>
              <a:buChar char="•"/>
            </a:pPr>
            <a:r>
              <a:rPr lang="en-US" sz="2400" b="1" u="sng" dirty="0">
                <a:latin typeface="Aptos Narrow" panose="020B0004020202020204" pitchFamily="34" charset="0"/>
                <a:cs typeface="Aparajita" panose="02020603050405020304" pitchFamily="18" charset="0"/>
              </a:rPr>
              <a:t>Problem Statement ID </a:t>
            </a:r>
            <a:r>
              <a:rPr lang="en-US" sz="2400" b="1" dirty="0">
                <a:latin typeface="Aptos Narrow" panose="020B0004020202020204" pitchFamily="34" charset="0"/>
                <a:cs typeface="Aparajita" panose="02020603050405020304" pitchFamily="18" charset="0"/>
              </a:rPr>
              <a:t>– </a:t>
            </a:r>
            <a:r>
              <a:rPr lang="en-IN" sz="2400" b="1" dirty="0">
                <a:solidFill>
                  <a:schemeClr val="tx2"/>
                </a:solidFill>
              </a:rPr>
              <a:t>SIH26044</a:t>
            </a:r>
            <a:endParaRPr lang="en-US" sz="2400" b="1" dirty="0">
              <a:solidFill>
                <a:schemeClr val="tx2"/>
              </a:solidFill>
              <a:latin typeface="Aptos Narrow" panose="020B0004020202020204" pitchFamily="34" charset="0"/>
              <a:cs typeface="Aparajita" panose="02020603050405020304" pitchFamily="18" charset="0"/>
            </a:endParaRPr>
          </a:p>
          <a:p>
            <a:pPr marL="285750" indent="-285750" algn="just">
              <a:lnSpc>
                <a:spcPct val="100000"/>
              </a:lnSpc>
              <a:buFont typeface="Arial" panose="020B0604020202020204" pitchFamily="34" charset="0"/>
              <a:buChar char="•"/>
            </a:pPr>
            <a:endParaRPr lang="en-US" sz="2400" b="1" dirty="0">
              <a:latin typeface="Aptos Narrow" panose="020B0004020202020204" pitchFamily="34" charset="0"/>
              <a:cs typeface="Aparajita" panose="02020603050405020304" pitchFamily="18" charset="0"/>
            </a:endParaRPr>
          </a:p>
          <a:p>
            <a:pPr marL="285750" indent="-285750" algn="just">
              <a:lnSpc>
                <a:spcPct val="100000"/>
              </a:lnSpc>
              <a:buFont typeface="Arial" panose="020B0604020202020204" pitchFamily="34" charset="0"/>
              <a:buChar char="•"/>
            </a:pPr>
            <a:r>
              <a:rPr lang="en-US" sz="2400" b="1" u="sng" dirty="0">
                <a:latin typeface="Aptos Narrow" panose="020B0004020202020204" pitchFamily="34" charset="0"/>
                <a:cs typeface="Arial" panose="020B0604020202020204" pitchFamily="34" charset="0"/>
              </a:rPr>
              <a:t>Problem Statement Title</a:t>
            </a:r>
            <a:r>
              <a:rPr lang="en-US" sz="2400" b="1" dirty="0">
                <a:latin typeface="Aptos Narrow" panose="020B0004020202020204" pitchFamily="34" charset="0"/>
                <a:cs typeface="Arial" panose="020B0604020202020204" pitchFamily="34" charset="0"/>
              </a:rPr>
              <a:t> </a:t>
            </a:r>
            <a:r>
              <a:rPr lang="en-US" sz="2400" b="1" dirty="0">
                <a:latin typeface="Aptos Narrow" panose="020B0004020202020204" pitchFamily="34" charset="0"/>
                <a:cs typeface="Aparajita" panose="02020603050405020304" pitchFamily="18" charset="0"/>
              </a:rPr>
              <a:t>–</a:t>
            </a:r>
            <a:r>
              <a:rPr lang="en-US" sz="2400" b="1" dirty="0">
                <a:latin typeface="Aptos Narrow" panose="020B0004020202020204" pitchFamily="34" charset="0"/>
                <a:cs typeface="Arial" panose="020B0604020202020204" pitchFamily="34" charset="0"/>
              </a:rPr>
              <a:t> </a:t>
            </a:r>
            <a:r>
              <a:rPr lang="en-IN" sz="2400" b="1" dirty="0">
                <a:solidFill>
                  <a:schemeClr val="tx2"/>
                </a:solidFill>
              </a:rPr>
              <a:t>Portal for Academia - Industry collaboration for Skill Mapping, Internships and Placement</a:t>
            </a:r>
          </a:p>
          <a:p>
            <a:pPr algn="just">
              <a:lnSpc>
                <a:spcPct val="100000"/>
              </a:lnSpc>
            </a:pPr>
            <a:endParaRPr lang="en-US" sz="2400" b="1" u="sng" dirty="0">
              <a:solidFill>
                <a:schemeClr val="tx2"/>
              </a:solidFill>
              <a:latin typeface="Aptos Narrow" panose="020B0004020202020204" pitchFamily="34" charset="0"/>
              <a:cs typeface="Arial" panose="020B0604020202020204" pitchFamily="34" charset="0"/>
            </a:endParaRPr>
          </a:p>
          <a:p>
            <a:pPr marL="285750" indent="-285750" algn="just">
              <a:lnSpc>
                <a:spcPct val="100000"/>
              </a:lnSpc>
              <a:buFont typeface="Arial" panose="020B0604020202020204" pitchFamily="34" charset="0"/>
              <a:buChar char="•"/>
            </a:pPr>
            <a:r>
              <a:rPr lang="en-US" sz="2400" b="1" u="sng" dirty="0">
                <a:latin typeface="Aptos Narrow" panose="020B0004020202020204" pitchFamily="34" charset="0"/>
                <a:cs typeface="Arial" panose="020B0604020202020204" pitchFamily="34" charset="0"/>
              </a:rPr>
              <a:t>Theme </a:t>
            </a:r>
            <a:r>
              <a:rPr lang="en-US" sz="2400" b="1" dirty="0">
                <a:latin typeface="Aptos Narrow" panose="020B0004020202020204" pitchFamily="34" charset="0"/>
                <a:cs typeface="Arial" panose="020B0604020202020204" pitchFamily="34" charset="0"/>
              </a:rPr>
              <a:t>- </a:t>
            </a:r>
            <a:r>
              <a:rPr lang="en-IN" sz="2400" b="1" dirty="0">
                <a:solidFill>
                  <a:schemeClr val="tx2"/>
                </a:solidFill>
              </a:rPr>
              <a:t>Smart Automation</a:t>
            </a:r>
            <a:endParaRPr lang="en-US" sz="2400" b="1" u="sng" dirty="0">
              <a:solidFill>
                <a:schemeClr val="tx2"/>
              </a:solidFill>
              <a:latin typeface="Aptos Narrow" panose="020B0004020202020204" pitchFamily="34" charset="0"/>
              <a:cs typeface="Arial" panose="020B0604020202020204" pitchFamily="34" charset="0"/>
            </a:endParaRPr>
          </a:p>
          <a:p>
            <a:pPr marL="285750" indent="-285750" algn="just">
              <a:lnSpc>
                <a:spcPct val="200000"/>
              </a:lnSpc>
              <a:buFont typeface="Arial" panose="020B0604020202020204" pitchFamily="34" charset="0"/>
              <a:buChar char="•"/>
            </a:pPr>
            <a:r>
              <a:rPr lang="en-US" sz="2400" b="1" u="sng" dirty="0">
                <a:latin typeface="Aptos Narrow" panose="020B0004020202020204" pitchFamily="34" charset="0"/>
                <a:cs typeface="Arial" panose="020B0604020202020204" pitchFamily="34" charset="0"/>
              </a:rPr>
              <a:t>PS Category</a:t>
            </a:r>
            <a:r>
              <a:rPr lang="en-US" sz="2400" b="1" dirty="0">
                <a:latin typeface="Aptos Narrow" panose="020B0004020202020204" pitchFamily="34" charset="0"/>
                <a:cs typeface="Arial" panose="020B0604020202020204" pitchFamily="34" charset="0"/>
              </a:rPr>
              <a:t> - </a:t>
            </a:r>
            <a:r>
              <a:rPr lang="en-US" sz="2400" b="1" dirty="0">
                <a:solidFill>
                  <a:schemeClr val="tx2"/>
                </a:solidFill>
                <a:latin typeface="+mn-lt"/>
                <a:cs typeface="Arial" panose="020B0604020202020204" pitchFamily="34" charset="0"/>
              </a:rPr>
              <a:t>Software</a:t>
            </a:r>
          </a:p>
          <a:p>
            <a:pPr marL="285750" indent="-285750" algn="just">
              <a:lnSpc>
                <a:spcPct val="200000"/>
              </a:lnSpc>
              <a:buFont typeface="Arial" panose="020B0604020202020204" pitchFamily="34" charset="0"/>
              <a:buChar char="•"/>
            </a:pPr>
            <a:r>
              <a:rPr lang="en-US" sz="2400" b="1" u="sng" dirty="0">
                <a:latin typeface="Aptos Narrow" panose="020B0004020202020204" pitchFamily="34" charset="0"/>
                <a:cs typeface="Arial" panose="020B0604020202020204" pitchFamily="34" charset="0"/>
              </a:rPr>
              <a:t>Team ID </a:t>
            </a:r>
            <a:r>
              <a:rPr lang="en-US" sz="2400" b="1" dirty="0">
                <a:latin typeface="Arial" panose="020B0604020202020204" pitchFamily="34" charset="0"/>
                <a:cs typeface="Arial" panose="020B0604020202020204" pitchFamily="34" charset="0"/>
              </a:rPr>
              <a:t>-</a:t>
            </a:r>
          </a:p>
          <a:p>
            <a:pPr marL="285750" indent="-285750" algn="just">
              <a:lnSpc>
                <a:spcPct val="200000"/>
              </a:lnSpc>
              <a:buFont typeface="Arial" panose="020B0604020202020204" pitchFamily="34" charset="0"/>
              <a:buChar char="•"/>
            </a:pPr>
            <a:r>
              <a:rPr lang="en-US" sz="2400" b="1" u="sng" dirty="0">
                <a:latin typeface="Arial" panose="020B0604020202020204" pitchFamily="34" charset="0"/>
                <a:cs typeface="Arial" panose="020B0604020202020204" pitchFamily="34" charset="0"/>
              </a:rPr>
              <a:t>Team Name </a:t>
            </a:r>
            <a:r>
              <a:rPr lang="en-US" sz="2400" b="1" dirty="0">
                <a:latin typeface="Arial" panose="020B0604020202020204" pitchFamily="34" charset="0"/>
                <a:cs typeface="Arial" panose="020B0604020202020204" pitchFamily="34" charset="0"/>
              </a:rPr>
              <a:t>– </a:t>
            </a:r>
            <a:r>
              <a:rPr lang="en-US" sz="2400" b="1" dirty="0">
                <a:solidFill>
                  <a:schemeClr val="tx2"/>
                </a:solidFill>
                <a:latin typeface="Arial" panose="020B0604020202020204" pitchFamily="34" charset="0"/>
                <a:cs typeface="Arial" panose="020B0604020202020204" pitchFamily="34" charset="0"/>
              </a:rPr>
              <a:t>Code Hunters</a:t>
            </a:r>
            <a:endParaRPr lang="en-IN" sz="2400" b="1" dirty="0">
              <a:solidFill>
                <a:schemeClr val="tx2"/>
              </a:solidFill>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581630" y="1328"/>
            <a:ext cx="8669131" cy="1143000"/>
          </a:xfrm>
        </p:spPr>
        <p:txBody>
          <a:bodyPr/>
          <a:lstStyle/>
          <a:p>
            <a:pPr eaLnBrk="1" hangingPunct="1"/>
            <a:r>
              <a:rPr lang="en-US" sz="2800" b="1" dirty="0">
                <a:latin typeface="Aptos Display" panose="020B0004020202020204" pitchFamily="34" charset="0"/>
                <a:ea typeface="ＭＳ Ｐゴシック" pitchFamily="1" charset="-128"/>
                <a:cs typeface="Times New Roman" panose="02020603050405020304" pitchFamily="18" charset="0"/>
              </a:rPr>
              <a:t>SKILLS SETU -An Intelligent Skill-Profiling and Opportunity Matching Ecosystem</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403705"/>
            <a:ext cx="3204000" cy="365125"/>
          </a:xfrm>
        </p:spPr>
        <p:txBody>
          <a:bodyPr/>
          <a:lstStyle/>
          <a:p>
            <a:pPr>
              <a:defRPr/>
            </a:pPr>
            <a:r>
              <a:rPr lang="en-US" dirty="0">
                <a:solidFill>
                  <a:prstClr val="white"/>
                </a:solidFill>
              </a:rPr>
              <a:t>@SIH Idea submission- Template</a:t>
            </a: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5" y="78651"/>
            <a:ext cx="1361374" cy="64441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b="1" dirty="0">
                <a:latin typeface="Calisto MT" panose="02040603050505030304" pitchFamily="18" charset="0"/>
              </a:rPr>
              <a:t>Code</a:t>
            </a:r>
          </a:p>
          <a:p>
            <a:pPr algn="ctr"/>
            <a:r>
              <a:rPr lang="en-IN" sz="1600" b="1" dirty="0">
                <a:latin typeface="Calisto MT" panose="02040603050505030304" pitchFamily="18" charset="0"/>
              </a:rPr>
              <a:t>Hunters</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63152" y="76760"/>
            <a:ext cx="1620000" cy="764933"/>
          </a:xfrm>
          <a:prstGeom prst="rect">
            <a:avLst/>
          </a:prstGeom>
        </p:spPr>
      </p:pic>
      <p:grpSp>
        <p:nvGrpSpPr>
          <p:cNvPr id="5" name="Group 4">
            <a:extLst>
              <a:ext uri="{FF2B5EF4-FFF2-40B4-BE49-F238E27FC236}">
                <a16:creationId xmlns:a16="http://schemas.microsoft.com/office/drawing/2014/main" id="{10F3E273-79E0-343F-589E-9D87CEC1B1BF}"/>
              </a:ext>
            </a:extLst>
          </p:cNvPr>
          <p:cNvGrpSpPr/>
          <p:nvPr/>
        </p:nvGrpSpPr>
        <p:grpSpPr>
          <a:xfrm>
            <a:off x="127351" y="1087192"/>
            <a:ext cx="1441887" cy="338554"/>
            <a:chOff x="1563782" y="573838"/>
            <a:chExt cx="1902150" cy="421168"/>
          </a:xfrm>
        </p:grpSpPr>
        <p:sp>
          <p:nvSpPr>
            <p:cNvPr id="8" name="Rectangle: Rounded Corners 7">
              <a:extLst>
                <a:ext uri="{FF2B5EF4-FFF2-40B4-BE49-F238E27FC236}">
                  <a16:creationId xmlns:a16="http://schemas.microsoft.com/office/drawing/2014/main" id="{ADAD1CDA-D9D6-F233-5246-3AB68253E8C9}"/>
                </a:ext>
              </a:extLst>
            </p:cNvPr>
            <p:cNvSpPr/>
            <p:nvPr/>
          </p:nvSpPr>
          <p:spPr>
            <a:xfrm>
              <a:off x="1665494" y="628204"/>
              <a:ext cx="1698727"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95BFE073-5356-34B2-286C-777E02B8E369}"/>
                </a:ext>
              </a:extLst>
            </p:cNvPr>
            <p:cNvSpPr txBox="1"/>
            <p:nvPr/>
          </p:nvSpPr>
          <p:spPr>
            <a:xfrm>
              <a:off x="1563782" y="573838"/>
              <a:ext cx="1902150" cy="421168"/>
            </a:xfrm>
            <a:prstGeom prst="rect">
              <a:avLst/>
            </a:prstGeom>
            <a:noFill/>
          </p:spPr>
          <p:txBody>
            <a:bodyPr wrap="square" rtlCol="0">
              <a:spAutoFit/>
            </a:bodyPr>
            <a:lstStyle/>
            <a:p>
              <a:pPr algn="ctr"/>
              <a:r>
                <a:rPr lang="en-IN" sz="1600" b="1" dirty="0">
                  <a:latin typeface="+mn-lt"/>
                </a:rPr>
                <a:t>PROBLEM :</a:t>
              </a:r>
              <a:r>
                <a:rPr lang="en-IN" sz="1600" dirty="0"/>
                <a:t> </a:t>
              </a:r>
            </a:p>
          </p:txBody>
        </p:sp>
      </p:grpSp>
      <p:grpSp>
        <p:nvGrpSpPr>
          <p:cNvPr id="17" name="Group 16">
            <a:extLst>
              <a:ext uri="{FF2B5EF4-FFF2-40B4-BE49-F238E27FC236}">
                <a16:creationId xmlns:a16="http://schemas.microsoft.com/office/drawing/2014/main" id="{CBE60A83-CF63-510C-B7C1-F031D52248F7}"/>
              </a:ext>
            </a:extLst>
          </p:cNvPr>
          <p:cNvGrpSpPr/>
          <p:nvPr/>
        </p:nvGrpSpPr>
        <p:grpSpPr>
          <a:xfrm>
            <a:off x="9508299" y="874035"/>
            <a:ext cx="1441887" cy="338554"/>
            <a:chOff x="1563782" y="573838"/>
            <a:chExt cx="1902150" cy="421168"/>
          </a:xfrm>
        </p:grpSpPr>
        <p:sp>
          <p:nvSpPr>
            <p:cNvPr id="18" name="Rectangle: Rounded Corners 17">
              <a:extLst>
                <a:ext uri="{FF2B5EF4-FFF2-40B4-BE49-F238E27FC236}">
                  <a16:creationId xmlns:a16="http://schemas.microsoft.com/office/drawing/2014/main" id="{132D20EA-118F-1368-A0D7-3B4507752ACF}"/>
                </a:ext>
              </a:extLst>
            </p:cNvPr>
            <p:cNvSpPr/>
            <p:nvPr/>
          </p:nvSpPr>
          <p:spPr>
            <a:xfrm>
              <a:off x="1665494" y="628204"/>
              <a:ext cx="1698727"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C321A894-7D55-61B8-DD45-81EB23F3FA92}"/>
                </a:ext>
              </a:extLst>
            </p:cNvPr>
            <p:cNvSpPr txBox="1"/>
            <p:nvPr/>
          </p:nvSpPr>
          <p:spPr>
            <a:xfrm>
              <a:off x="1563782" y="573838"/>
              <a:ext cx="1902150" cy="421168"/>
            </a:xfrm>
            <a:prstGeom prst="rect">
              <a:avLst/>
            </a:prstGeom>
            <a:noFill/>
          </p:spPr>
          <p:txBody>
            <a:bodyPr wrap="square" rtlCol="0">
              <a:spAutoFit/>
            </a:bodyPr>
            <a:lstStyle/>
            <a:p>
              <a:pPr algn="ctr"/>
              <a:r>
                <a:rPr lang="en-IN" sz="1600" b="1" dirty="0">
                  <a:latin typeface="+mn-lt"/>
                </a:rPr>
                <a:t>OUR IDEA:</a:t>
              </a:r>
              <a:r>
                <a:rPr lang="en-IN" sz="1600" dirty="0"/>
                <a:t> </a:t>
              </a:r>
            </a:p>
          </p:txBody>
        </p:sp>
      </p:grpSp>
      <p:sp>
        <p:nvSpPr>
          <p:cNvPr id="21" name="TextBox 20">
            <a:extLst>
              <a:ext uri="{FF2B5EF4-FFF2-40B4-BE49-F238E27FC236}">
                <a16:creationId xmlns:a16="http://schemas.microsoft.com/office/drawing/2014/main" id="{800001DD-1360-49BE-EC4C-FC47FDC2DAC2}"/>
              </a:ext>
            </a:extLst>
          </p:cNvPr>
          <p:cNvSpPr txBox="1"/>
          <p:nvPr/>
        </p:nvSpPr>
        <p:spPr>
          <a:xfrm>
            <a:off x="5938669" y="1227214"/>
            <a:ext cx="6133068" cy="2009061"/>
          </a:xfrm>
          <a:prstGeom prst="roundRect">
            <a:avLst/>
          </a:prstGeom>
          <a:solidFill>
            <a:schemeClr val="accent6">
              <a:lumMod val="20000"/>
              <a:lumOff val="80000"/>
            </a:schemeClr>
          </a:solidFill>
          <a:ln>
            <a:solidFill>
              <a:schemeClr val="accent6"/>
            </a:solidFill>
          </a:ln>
        </p:spPr>
        <p:txBody>
          <a:bodyPr wrap="square">
            <a:spAutoFit/>
          </a:bodyPr>
          <a:lstStyle/>
          <a:p>
            <a:r>
              <a:rPr lang="en-IN" sz="1600" b="1" dirty="0"/>
              <a:t>Skill Setu</a:t>
            </a:r>
            <a:r>
              <a:rPr lang="en-IN" sz="1600" dirty="0"/>
              <a:t> is an AI-driven platform that bridges the gap between student skills and evolving industry requirements. It continuously identifies skill gaps, recommends personalized learning pathways, and matches upskilled students with relevant internships and job opportunities. It also enables institutions and industries to track skill readiness, talent requirements, and placement outcomes through intelligent analytics.</a:t>
            </a:r>
            <a:endParaRPr lang="en-IN" sz="1600" b="1" dirty="0"/>
          </a:p>
        </p:txBody>
      </p:sp>
      <p:graphicFrame>
        <p:nvGraphicFramePr>
          <p:cNvPr id="27" name="Table 26">
            <a:extLst>
              <a:ext uri="{FF2B5EF4-FFF2-40B4-BE49-F238E27FC236}">
                <a16:creationId xmlns:a16="http://schemas.microsoft.com/office/drawing/2014/main" id="{5F1B838E-3922-6013-BA76-8B9D92AF5EBD}"/>
              </a:ext>
            </a:extLst>
          </p:cNvPr>
          <p:cNvGraphicFramePr>
            <a:graphicFrameLocks noGrp="1"/>
          </p:cNvGraphicFramePr>
          <p:nvPr>
            <p:extLst>
              <p:ext uri="{D42A27DB-BD31-4B8C-83A1-F6EECF244321}">
                <p14:modId xmlns:p14="http://schemas.microsoft.com/office/powerpoint/2010/main" val="4271177922"/>
              </p:ext>
            </p:extLst>
          </p:nvPr>
        </p:nvGraphicFramePr>
        <p:xfrm>
          <a:off x="204452" y="1480793"/>
          <a:ext cx="5596908" cy="1600200"/>
        </p:xfrm>
        <a:graphic>
          <a:graphicData uri="http://schemas.openxmlformats.org/drawingml/2006/table">
            <a:tbl>
              <a:tblPr>
                <a:tableStyleId>{00A15C55-8517-42AA-B614-E9B94910E393}</a:tableStyleId>
              </a:tblPr>
              <a:tblGrid>
                <a:gridCol w="1865636">
                  <a:extLst>
                    <a:ext uri="{9D8B030D-6E8A-4147-A177-3AD203B41FA5}">
                      <a16:colId xmlns:a16="http://schemas.microsoft.com/office/drawing/2014/main" val="1965708274"/>
                    </a:ext>
                  </a:extLst>
                </a:gridCol>
                <a:gridCol w="1865636">
                  <a:extLst>
                    <a:ext uri="{9D8B030D-6E8A-4147-A177-3AD203B41FA5}">
                      <a16:colId xmlns:a16="http://schemas.microsoft.com/office/drawing/2014/main" val="2403456350"/>
                    </a:ext>
                  </a:extLst>
                </a:gridCol>
                <a:gridCol w="1865636">
                  <a:extLst>
                    <a:ext uri="{9D8B030D-6E8A-4147-A177-3AD203B41FA5}">
                      <a16:colId xmlns:a16="http://schemas.microsoft.com/office/drawing/2014/main" val="324381334"/>
                    </a:ext>
                  </a:extLst>
                </a:gridCol>
              </a:tblGrid>
              <a:tr h="210369">
                <a:tc>
                  <a:txBody>
                    <a:bodyPr/>
                    <a:lstStyle/>
                    <a:p>
                      <a:pPr algn="ctr">
                        <a:buNone/>
                      </a:pPr>
                      <a:r>
                        <a:rPr lang="en-IN" sz="1200" b="1" dirty="0"/>
                        <a:t>Students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Academicians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200" b="1" dirty="0"/>
                        <a:t>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77908756"/>
                  </a:ext>
                </a:extLst>
              </a:tr>
              <a:tr h="315554">
                <a:tc>
                  <a:txBody>
                    <a:bodyPr/>
                    <a:lstStyle/>
                    <a:p>
                      <a:pPr algn="ctr">
                        <a:buNone/>
                      </a:pPr>
                      <a:r>
                        <a:rPr lang="en-IN" sz="1050"/>
                        <a:t>Don't know which skills they lack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a:t>Limited industry visibility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Hard to find skill-fit candidates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9416406"/>
                  </a:ext>
                </a:extLst>
              </a:tr>
              <a:tr h="215545">
                <a:tc>
                  <a:txBody>
                    <a:bodyPr/>
                    <a:lstStyle/>
                    <a:p>
                      <a:pPr algn="ctr">
                        <a:buNone/>
                      </a:pPr>
                      <a:r>
                        <a:rPr lang="en-IN" sz="1050"/>
                        <a:t>Generic career guidance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Limited practical exposure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Skill mismatch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1219428"/>
                  </a:ext>
                </a:extLst>
              </a:tr>
              <a:tr h="215545">
                <a:tc>
                  <a:txBody>
                    <a:bodyPr/>
                    <a:lstStyle/>
                    <a:p>
                      <a:pPr algn="ctr">
                        <a:buNone/>
                      </a:pPr>
                      <a:r>
                        <a:rPr lang="en-IN" sz="1050"/>
                        <a:t>Scattered internships/jobs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a:t>Difficult collaboration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Inefficient screening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001197"/>
                  </a:ext>
                </a:extLst>
              </a:tr>
              <a:tr h="315554">
                <a:tc>
                  <a:txBody>
                    <a:bodyPr/>
                    <a:lstStyle/>
                    <a:p>
                      <a:pPr algn="ctr">
                        <a:buNone/>
                      </a:pPr>
                      <a:r>
                        <a:rPr lang="en-IN" sz="1050"/>
                        <a:t>No verified skill identity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Limited feedback from industry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IN" sz="1050" dirty="0"/>
                        <a:t>Training needs unclear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46387000"/>
                  </a:ext>
                </a:extLst>
              </a:tr>
            </a:tbl>
          </a:graphicData>
        </a:graphic>
      </p:graphicFrame>
      <p:sp>
        <p:nvSpPr>
          <p:cNvPr id="28" name="TextBox 27">
            <a:extLst>
              <a:ext uri="{FF2B5EF4-FFF2-40B4-BE49-F238E27FC236}">
                <a16:creationId xmlns:a16="http://schemas.microsoft.com/office/drawing/2014/main" id="{C8DEA44D-32B4-B692-D466-24B17BFA1AC7}"/>
              </a:ext>
            </a:extLst>
          </p:cNvPr>
          <p:cNvSpPr txBox="1"/>
          <p:nvPr/>
        </p:nvSpPr>
        <p:spPr>
          <a:xfrm>
            <a:off x="204453" y="3010863"/>
            <a:ext cx="5877164" cy="461665"/>
          </a:xfrm>
          <a:prstGeom prst="rect">
            <a:avLst/>
          </a:prstGeom>
          <a:noFill/>
        </p:spPr>
        <p:txBody>
          <a:bodyPr wrap="square" rtlCol="0">
            <a:spAutoFit/>
          </a:bodyPr>
          <a:lstStyle/>
          <a:p>
            <a:r>
              <a:rPr lang="en-IN" sz="1200" b="1" dirty="0"/>
              <a:t>No unified system continuously maps academic talent to evolving industry skill requirements.</a:t>
            </a:r>
          </a:p>
        </p:txBody>
      </p:sp>
      <p:pic>
        <p:nvPicPr>
          <p:cNvPr id="30" name="Picture 29">
            <a:extLst>
              <a:ext uri="{FF2B5EF4-FFF2-40B4-BE49-F238E27FC236}">
                <a16:creationId xmlns:a16="http://schemas.microsoft.com/office/drawing/2014/main" id="{9B517DFD-5825-6567-4C85-6CDE72BB9EE8}"/>
              </a:ext>
            </a:extLst>
          </p:cNvPr>
          <p:cNvPicPr>
            <a:picLocks noChangeAspect="1"/>
          </p:cNvPicPr>
          <p:nvPr/>
        </p:nvPicPr>
        <p:blipFill>
          <a:blip r:embed="rId4"/>
          <a:srcRect l="8450" t="6073" r="8814" b="4297"/>
          <a:stretch>
            <a:fillRect/>
          </a:stretch>
        </p:blipFill>
        <p:spPr>
          <a:xfrm>
            <a:off x="9294971" y="3299343"/>
            <a:ext cx="2762190" cy="2992351"/>
          </a:xfrm>
          <a:prstGeom prst="rect">
            <a:avLst/>
          </a:prstGeom>
        </p:spPr>
      </p:pic>
      <p:sp>
        <p:nvSpPr>
          <p:cNvPr id="32" name="TextBox 31">
            <a:extLst>
              <a:ext uri="{FF2B5EF4-FFF2-40B4-BE49-F238E27FC236}">
                <a16:creationId xmlns:a16="http://schemas.microsoft.com/office/drawing/2014/main" id="{0DC739D5-DBEE-980E-763D-5EC8EF25F874}"/>
              </a:ext>
            </a:extLst>
          </p:cNvPr>
          <p:cNvSpPr txBox="1"/>
          <p:nvPr/>
        </p:nvSpPr>
        <p:spPr>
          <a:xfrm>
            <a:off x="72878" y="3785353"/>
            <a:ext cx="5010399" cy="2349579"/>
          </a:xfrm>
          <a:prstGeom prst="roundRect">
            <a:avLst/>
          </a:prstGeom>
          <a:solidFill>
            <a:srgbClr val="92D050">
              <a:alpha val="55000"/>
            </a:srgbClr>
          </a:solidFill>
          <a:ln>
            <a:solidFill>
              <a:srgbClr val="00B050"/>
            </a:solidFill>
          </a:ln>
        </p:spPr>
        <p:txBody>
          <a:bodyPr wrap="square">
            <a:spAutoFit/>
          </a:bodyPr>
          <a:lstStyle/>
          <a:p>
            <a:pPr marL="342900" lvl="0" indent="-342900">
              <a:buFont typeface="Arial" panose="020B0604020202020204" pitchFamily="34" charset="0"/>
              <a:buChar char="•"/>
            </a:pPr>
            <a:r>
              <a:rPr lang="en-IN" sz="1200" b="1" dirty="0"/>
              <a:t>AI-powered continuous skill-gap analysis</a:t>
            </a:r>
            <a:r>
              <a:rPr lang="en-IN" sz="1200" dirty="0"/>
              <a:t> maps student capabilities against evolving industry requirements and identifies missing competencies. </a:t>
            </a:r>
          </a:p>
          <a:p>
            <a:pPr marL="342900" lvl="0" indent="-342900">
              <a:buFont typeface="Arial" panose="020B0604020202020204" pitchFamily="34" charset="0"/>
              <a:buChar char="•"/>
            </a:pPr>
            <a:r>
              <a:rPr lang="en-IN" sz="1200" b="1" dirty="0"/>
              <a:t>Personalized learning pathways</a:t>
            </a:r>
            <a:r>
              <a:rPr lang="en-IN" sz="1200" dirty="0"/>
              <a:t> recommend targeted courses, certifications, and projects to help students become career-ready. </a:t>
            </a:r>
          </a:p>
          <a:p>
            <a:pPr marL="342900" lvl="0" indent="-342900">
              <a:buFont typeface="Arial" panose="020B0604020202020204" pitchFamily="34" charset="0"/>
              <a:buChar char="•"/>
            </a:pPr>
            <a:r>
              <a:rPr lang="en-IN" sz="1200" b="1" dirty="0"/>
              <a:t>Intelligent skill-based matching</a:t>
            </a:r>
            <a:r>
              <a:rPr lang="en-IN" sz="1200" dirty="0"/>
              <a:t> connects upskilled students with relevant internships and job opportunities based on compatibility and eligibility. </a:t>
            </a:r>
          </a:p>
          <a:p>
            <a:pPr marL="342900" lvl="0" indent="-342900">
              <a:buFont typeface="Arial" panose="020B0604020202020204" pitchFamily="34" charset="0"/>
              <a:buChar char="•"/>
            </a:pPr>
            <a:r>
              <a:rPr lang="en-IN" sz="1200" b="1" dirty="0"/>
              <a:t>Unified industry–academia ecosystem</a:t>
            </a:r>
            <a:r>
              <a:rPr lang="en-IN" sz="1200" dirty="0"/>
              <a:t> enables institutions and companies to track skill readiness, collaborate on training, and build a stronger talent pipeline.</a:t>
            </a:r>
          </a:p>
        </p:txBody>
      </p:sp>
      <p:grpSp>
        <p:nvGrpSpPr>
          <p:cNvPr id="33" name="Group 32">
            <a:extLst>
              <a:ext uri="{FF2B5EF4-FFF2-40B4-BE49-F238E27FC236}">
                <a16:creationId xmlns:a16="http://schemas.microsoft.com/office/drawing/2014/main" id="{4020EF89-35B9-4064-D60D-9E25827A5438}"/>
              </a:ext>
            </a:extLst>
          </p:cNvPr>
          <p:cNvGrpSpPr/>
          <p:nvPr/>
        </p:nvGrpSpPr>
        <p:grpSpPr>
          <a:xfrm>
            <a:off x="120263" y="3440288"/>
            <a:ext cx="2743749" cy="584775"/>
            <a:chOff x="1563782" y="573838"/>
            <a:chExt cx="1902150" cy="727472"/>
          </a:xfrm>
        </p:grpSpPr>
        <p:sp>
          <p:nvSpPr>
            <p:cNvPr id="34" name="Rectangle: Rounded Corners 33">
              <a:extLst>
                <a:ext uri="{FF2B5EF4-FFF2-40B4-BE49-F238E27FC236}">
                  <a16:creationId xmlns:a16="http://schemas.microsoft.com/office/drawing/2014/main" id="{7DB1C34D-F68B-9896-DDA9-BD0F16A625B3}"/>
                </a:ext>
              </a:extLst>
            </p:cNvPr>
            <p:cNvSpPr/>
            <p:nvPr/>
          </p:nvSpPr>
          <p:spPr>
            <a:xfrm>
              <a:off x="1665494" y="628204"/>
              <a:ext cx="1698727"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5" name="TextBox 34">
              <a:extLst>
                <a:ext uri="{FF2B5EF4-FFF2-40B4-BE49-F238E27FC236}">
                  <a16:creationId xmlns:a16="http://schemas.microsoft.com/office/drawing/2014/main" id="{2AE6B068-0519-4EAE-BDC3-16066ECFBC6B}"/>
                </a:ext>
              </a:extLst>
            </p:cNvPr>
            <p:cNvSpPr txBox="1"/>
            <p:nvPr/>
          </p:nvSpPr>
          <p:spPr>
            <a:xfrm>
              <a:off x="1563782" y="573838"/>
              <a:ext cx="1902150" cy="727472"/>
            </a:xfrm>
            <a:prstGeom prst="rect">
              <a:avLst/>
            </a:prstGeom>
            <a:noFill/>
          </p:spPr>
          <p:txBody>
            <a:bodyPr wrap="square" rtlCol="0">
              <a:spAutoFit/>
            </a:bodyPr>
            <a:lstStyle/>
            <a:p>
              <a:pPr algn="ctr"/>
              <a:r>
                <a:rPr lang="en-IN" sz="1600" b="1" dirty="0">
                  <a:latin typeface="+mn-lt"/>
                </a:rPr>
                <a:t>PROPOSED SOLUTION:</a:t>
              </a:r>
              <a:r>
                <a:rPr lang="en-IN" sz="1600" dirty="0"/>
                <a:t> </a:t>
              </a:r>
            </a:p>
          </p:txBody>
        </p:sp>
      </p:grpSp>
      <p:grpSp>
        <p:nvGrpSpPr>
          <p:cNvPr id="36" name="Group 35">
            <a:extLst>
              <a:ext uri="{FF2B5EF4-FFF2-40B4-BE49-F238E27FC236}">
                <a16:creationId xmlns:a16="http://schemas.microsoft.com/office/drawing/2014/main" id="{D3BD6E72-E3CC-3FDA-141D-8D830F268F4F}"/>
              </a:ext>
            </a:extLst>
          </p:cNvPr>
          <p:cNvGrpSpPr/>
          <p:nvPr/>
        </p:nvGrpSpPr>
        <p:grpSpPr>
          <a:xfrm>
            <a:off x="5411165" y="3245091"/>
            <a:ext cx="2743749" cy="338554"/>
            <a:chOff x="1558725" y="573838"/>
            <a:chExt cx="1902150" cy="421168"/>
          </a:xfrm>
        </p:grpSpPr>
        <p:sp>
          <p:nvSpPr>
            <p:cNvPr id="37" name="Rectangle: Rounded Corners 36">
              <a:extLst>
                <a:ext uri="{FF2B5EF4-FFF2-40B4-BE49-F238E27FC236}">
                  <a16:creationId xmlns:a16="http://schemas.microsoft.com/office/drawing/2014/main" id="{40312D94-4E8F-E713-D9DC-F695DA7529C8}"/>
                </a:ext>
              </a:extLst>
            </p:cNvPr>
            <p:cNvSpPr/>
            <p:nvPr/>
          </p:nvSpPr>
          <p:spPr>
            <a:xfrm>
              <a:off x="1665494" y="628204"/>
              <a:ext cx="1698727"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38" name="TextBox 37">
              <a:extLst>
                <a:ext uri="{FF2B5EF4-FFF2-40B4-BE49-F238E27FC236}">
                  <a16:creationId xmlns:a16="http://schemas.microsoft.com/office/drawing/2014/main" id="{63D73EBE-D5DA-C74E-68A7-ED9255FCBBEB}"/>
                </a:ext>
              </a:extLst>
            </p:cNvPr>
            <p:cNvSpPr txBox="1"/>
            <p:nvPr/>
          </p:nvSpPr>
          <p:spPr>
            <a:xfrm>
              <a:off x="1558725" y="573838"/>
              <a:ext cx="1902150" cy="421168"/>
            </a:xfrm>
            <a:prstGeom prst="rect">
              <a:avLst/>
            </a:prstGeom>
            <a:noFill/>
          </p:spPr>
          <p:txBody>
            <a:bodyPr wrap="square" rtlCol="0">
              <a:spAutoFit/>
            </a:bodyPr>
            <a:lstStyle/>
            <a:p>
              <a:pPr algn="ctr"/>
              <a:r>
                <a:rPr lang="en-IN" sz="1600" b="1" dirty="0">
                  <a:latin typeface="+mn-lt"/>
                </a:rPr>
                <a:t>INNOVATION/UNIQUENESS:</a:t>
              </a:r>
              <a:r>
                <a:rPr lang="en-IN" sz="1600" dirty="0"/>
                <a:t> </a:t>
              </a:r>
            </a:p>
          </p:txBody>
        </p:sp>
      </p:grpSp>
      <p:sp>
        <p:nvSpPr>
          <p:cNvPr id="39" name="TextBox 38">
            <a:extLst>
              <a:ext uri="{FF2B5EF4-FFF2-40B4-BE49-F238E27FC236}">
                <a16:creationId xmlns:a16="http://schemas.microsoft.com/office/drawing/2014/main" id="{878B5BB7-ECC1-07C5-80C3-F62A6C89F971}"/>
              </a:ext>
            </a:extLst>
          </p:cNvPr>
          <p:cNvSpPr txBox="1"/>
          <p:nvPr/>
        </p:nvSpPr>
        <p:spPr>
          <a:xfrm>
            <a:off x="5480778" y="3577935"/>
            <a:ext cx="3744580" cy="2724150"/>
          </a:xfrm>
          <a:prstGeom prst="roundRect">
            <a:avLst/>
          </a:prstGeom>
          <a:solidFill>
            <a:schemeClr val="accent2">
              <a:lumMod val="20000"/>
              <a:lumOff val="80000"/>
            </a:schemeClr>
          </a:solidFill>
          <a:ln>
            <a:solidFill>
              <a:schemeClr val="accent2"/>
            </a:solidFill>
          </a:ln>
        </p:spPr>
        <p:txBody>
          <a:bodyPr wrap="square" rtlCol="0">
            <a:spAutoFit/>
          </a:bodyPr>
          <a:lstStyle/>
          <a:p>
            <a:pPr marL="285750" lvl="0" indent="-285750">
              <a:buFont typeface="Arial" panose="020B0604020202020204" pitchFamily="34" charset="0"/>
              <a:buChar char="•"/>
            </a:pPr>
            <a:r>
              <a:rPr lang="en-IN" sz="1400" b="1" dirty="0"/>
              <a:t>Role-Specific Assessment</a:t>
            </a:r>
            <a:r>
              <a:rPr lang="en-IN" sz="1400" dirty="0"/>
              <a:t> – Checks skills required for the selected job. </a:t>
            </a:r>
          </a:p>
          <a:p>
            <a:pPr marL="285750" lvl="0" indent="-285750">
              <a:buFont typeface="Arial" panose="020B0604020202020204" pitchFamily="34" charset="0"/>
              <a:buChar char="•"/>
            </a:pPr>
            <a:r>
              <a:rPr lang="en-IN" sz="1400" b="1" dirty="0"/>
              <a:t>Smart Skill-Gap Detection</a:t>
            </a:r>
            <a:r>
              <a:rPr lang="en-IN" sz="1400" dirty="0"/>
              <a:t> - Identifies exactly what the student is missing. </a:t>
            </a:r>
          </a:p>
          <a:p>
            <a:pPr marL="285750" lvl="0" indent="-285750">
              <a:buFont typeface="Arial" panose="020B0604020202020204" pitchFamily="34" charset="0"/>
              <a:buChar char="•"/>
            </a:pPr>
            <a:r>
              <a:rPr lang="en-IN" sz="1400" b="1" dirty="0"/>
              <a:t>Personalized Learning</a:t>
            </a:r>
            <a:r>
              <a:rPr lang="en-IN" sz="1400" dirty="0"/>
              <a:t> – Recommends resources to close the skill gaps. </a:t>
            </a:r>
          </a:p>
          <a:p>
            <a:pPr marL="285750" lvl="0" indent="-285750">
              <a:buFont typeface="Arial" panose="020B0604020202020204" pitchFamily="34" charset="0"/>
              <a:buChar char="•"/>
            </a:pPr>
            <a:r>
              <a:rPr lang="en-IN" sz="1400" b="1" dirty="0"/>
              <a:t>Learn → Reassess → Apply</a:t>
            </a:r>
            <a:r>
              <a:rPr lang="en-IN" sz="1400" dirty="0"/>
              <a:t> – Students improve and recheck their readiness. </a:t>
            </a:r>
          </a:p>
          <a:p>
            <a:pPr marL="285750" lvl="0" indent="-285750">
              <a:buFont typeface="Arial" panose="020B0604020202020204" pitchFamily="34" charset="0"/>
              <a:buChar char="•"/>
            </a:pPr>
            <a:r>
              <a:rPr lang="en-IN" sz="1400" b="1" dirty="0"/>
              <a:t>Skill-Based Matching</a:t>
            </a:r>
            <a:r>
              <a:rPr lang="en-IN" sz="1400" dirty="0"/>
              <a:t> – Connects job-ready students with suitable opportunities.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2890563" y="88226"/>
            <a:ext cx="6032483" cy="733756"/>
          </a:xfrm>
        </p:spPr>
        <p:txBody>
          <a:bodyPr/>
          <a:lstStyle/>
          <a:p>
            <a:pPr eaLnBrk="1" hangingPunct="1"/>
            <a:r>
              <a:rPr lang="en-US" sz="3600" b="1" dirty="0">
                <a:latin typeface="Aptos Display" panose="020B0004020202020204" pitchFamily="34"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dirty="0">
                <a:solidFill>
                  <a:schemeClr val="bg1"/>
                </a:solidFill>
              </a:rPr>
              <a:t>@SIH Idea submission- Template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2697" y="121566"/>
            <a:ext cx="1620000" cy="764933"/>
          </a:xfrm>
          <a:prstGeom prst="rect">
            <a:avLst/>
          </a:prstGeom>
        </p:spPr>
      </p:pic>
      <p:sp>
        <p:nvSpPr>
          <p:cNvPr id="30" name="TextBox 29">
            <a:extLst>
              <a:ext uri="{FF2B5EF4-FFF2-40B4-BE49-F238E27FC236}">
                <a16:creationId xmlns:a16="http://schemas.microsoft.com/office/drawing/2014/main" id="{8631D823-98F9-54E1-10E4-CA6F601D8B72}"/>
              </a:ext>
            </a:extLst>
          </p:cNvPr>
          <p:cNvSpPr txBox="1"/>
          <p:nvPr/>
        </p:nvSpPr>
        <p:spPr>
          <a:xfrm>
            <a:off x="5925659" y="5207890"/>
            <a:ext cx="1385439" cy="338554"/>
          </a:xfrm>
          <a:prstGeom prst="rect">
            <a:avLst/>
          </a:prstGeom>
          <a:noFill/>
        </p:spPr>
        <p:txBody>
          <a:bodyPr wrap="square" rtlCol="0">
            <a:spAutoFit/>
          </a:bodyPr>
          <a:lstStyle/>
          <a:p>
            <a:pPr algn="ctr"/>
            <a:r>
              <a:rPr lang="en-IN" sz="1600" b="1" dirty="0">
                <a:latin typeface="Berlin Sans FB Demi" panose="020E0802020502020306" pitchFamily="34" charset="0"/>
              </a:rPr>
              <a:t>Security</a:t>
            </a:r>
          </a:p>
        </p:txBody>
      </p:sp>
      <p:sp>
        <p:nvSpPr>
          <p:cNvPr id="31" name="TextBox 30">
            <a:extLst>
              <a:ext uri="{FF2B5EF4-FFF2-40B4-BE49-F238E27FC236}">
                <a16:creationId xmlns:a16="http://schemas.microsoft.com/office/drawing/2014/main" id="{09E58649-461B-778F-08E1-E022780FA2F3}"/>
              </a:ext>
            </a:extLst>
          </p:cNvPr>
          <p:cNvSpPr txBox="1"/>
          <p:nvPr/>
        </p:nvSpPr>
        <p:spPr>
          <a:xfrm>
            <a:off x="6027606" y="5828007"/>
            <a:ext cx="1144114" cy="523220"/>
          </a:xfrm>
          <a:prstGeom prst="rect">
            <a:avLst/>
          </a:prstGeom>
          <a:noFill/>
        </p:spPr>
        <p:txBody>
          <a:bodyPr wrap="square" rtlCol="0">
            <a:spAutoFit/>
          </a:bodyPr>
          <a:lstStyle/>
          <a:p>
            <a:pPr algn="ctr"/>
            <a:r>
              <a:rPr lang="en-IN" sz="1400" b="1" dirty="0"/>
              <a:t>JWT/ OAuth/SSO</a:t>
            </a:r>
          </a:p>
        </p:txBody>
      </p:sp>
      <p:sp>
        <p:nvSpPr>
          <p:cNvPr id="35" name="TextBox 34">
            <a:extLst>
              <a:ext uri="{FF2B5EF4-FFF2-40B4-BE49-F238E27FC236}">
                <a16:creationId xmlns:a16="http://schemas.microsoft.com/office/drawing/2014/main" id="{705FDEF1-703E-5B71-B7A6-9C87A36F1DEF}"/>
              </a:ext>
            </a:extLst>
          </p:cNvPr>
          <p:cNvSpPr txBox="1"/>
          <p:nvPr/>
        </p:nvSpPr>
        <p:spPr>
          <a:xfrm>
            <a:off x="208344" y="4224759"/>
            <a:ext cx="184731" cy="369332"/>
          </a:xfrm>
          <a:prstGeom prst="rect">
            <a:avLst/>
          </a:prstGeom>
          <a:noFill/>
        </p:spPr>
        <p:txBody>
          <a:bodyPr wrap="none" rtlCol="0">
            <a:spAutoFit/>
          </a:bodyPr>
          <a:lstStyle/>
          <a:p>
            <a:endParaRPr lang="en-IN" dirty="0"/>
          </a:p>
        </p:txBody>
      </p:sp>
      <p:pic>
        <p:nvPicPr>
          <p:cNvPr id="17415" name="Picture 17414">
            <a:extLst>
              <a:ext uri="{FF2B5EF4-FFF2-40B4-BE49-F238E27FC236}">
                <a16:creationId xmlns:a16="http://schemas.microsoft.com/office/drawing/2014/main" id="{2AAC7528-89AA-5DD9-BDAE-82F4764494ED}"/>
              </a:ext>
            </a:extLst>
          </p:cNvPr>
          <p:cNvPicPr>
            <a:picLocks noChangeAspect="1"/>
          </p:cNvPicPr>
          <p:nvPr/>
        </p:nvPicPr>
        <p:blipFill>
          <a:blip r:embed="rId4"/>
          <a:srcRect t="10006" b="5663"/>
          <a:stretch>
            <a:fillRect/>
          </a:stretch>
        </p:blipFill>
        <p:spPr>
          <a:xfrm>
            <a:off x="7148430" y="1294523"/>
            <a:ext cx="4964912" cy="5059444"/>
          </a:xfrm>
          <a:prstGeom prst="rect">
            <a:avLst/>
          </a:prstGeom>
        </p:spPr>
      </p:pic>
      <p:grpSp>
        <p:nvGrpSpPr>
          <p:cNvPr id="17429" name="Group 17428">
            <a:extLst>
              <a:ext uri="{FF2B5EF4-FFF2-40B4-BE49-F238E27FC236}">
                <a16:creationId xmlns:a16="http://schemas.microsoft.com/office/drawing/2014/main" id="{E0720258-02F9-47B1-11ED-5DCF24FDD55C}"/>
              </a:ext>
            </a:extLst>
          </p:cNvPr>
          <p:cNvGrpSpPr/>
          <p:nvPr/>
        </p:nvGrpSpPr>
        <p:grpSpPr>
          <a:xfrm>
            <a:off x="149878" y="5003779"/>
            <a:ext cx="6919895" cy="1282722"/>
            <a:chOff x="149947" y="4694211"/>
            <a:chExt cx="6907240" cy="1592290"/>
          </a:xfrm>
        </p:grpSpPr>
        <p:sp>
          <p:nvSpPr>
            <p:cNvPr id="4" name="Rectangle: Rounded Corners 3">
              <a:extLst>
                <a:ext uri="{FF2B5EF4-FFF2-40B4-BE49-F238E27FC236}">
                  <a16:creationId xmlns:a16="http://schemas.microsoft.com/office/drawing/2014/main" id="{994A63A3-449D-0C12-E37A-6871AB11E499}"/>
                </a:ext>
              </a:extLst>
            </p:cNvPr>
            <p:cNvSpPr/>
            <p:nvPr/>
          </p:nvSpPr>
          <p:spPr>
            <a:xfrm>
              <a:off x="256954" y="5019849"/>
              <a:ext cx="6800233" cy="1266652"/>
            </a:xfrm>
            <a:prstGeom prst="roundRect">
              <a:avLst/>
            </a:prstGeom>
            <a:noFill/>
            <a:ln w="19050" cap="flat" cmpd="sng" algn="ctr">
              <a:solidFill>
                <a:schemeClr val="tx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IN"/>
            </a:p>
          </p:txBody>
        </p:sp>
        <p:sp>
          <p:nvSpPr>
            <p:cNvPr id="5" name="Rectangle: Rounded Corners 4">
              <a:extLst>
                <a:ext uri="{FF2B5EF4-FFF2-40B4-BE49-F238E27FC236}">
                  <a16:creationId xmlns:a16="http://schemas.microsoft.com/office/drawing/2014/main" id="{D195B4AF-A278-6D68-9E1D-C2219971FA24}"/>
                </a:ext>
              </a:extLst>
            </p:cNvPr>
            <p:cNvSpPr/>
            <p:nvPr/>
          </p:nvSpPr>
          <p:spPr>
            <a:xfrm>
              <a:off x="2508080" y="4780633"/>
              <a:ext cx="2297980"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b="1" dirty="0"/>
            </a:p>
          </p:txBody>
        </p:sp>
        <p:sp>
          <p:nvSpPr>
            <p:cNvPr id="13" name="TextBox 12">
              <a:extLst>
                <a:ext uri="{FF2B5EF4-FFF2-40B4-BE49-F238E27FC236}">
                  <a16:creationId xmlns:a16="http://schemas.microsoft.com/office/drawing/2014/main" id="{B8C53431-9C09-3F33-9180-438447B696BC}"/>
                </a:ext>
              </a:extLst>
            </p:cNvPr>
            <p:cNvSpPr txBox="1"/>
            <p:nvPr/>
          </p:nvSpPr>
          <p:spPr>
            <a:xfrm>
              <a:off x="349135" y="5019849"/>
              <a:ext cx="1043525" cy="338554"/>
            </a:xfrm>
            <a:prstGeom prst="rect">
              <a:avLst/>
            </a:prstGeom>
            <a:noFill/>
          </p:spPr>
          <p:txBody>
            <a:bodyPr wrap="square" rtlCol="0">
              <a:spAutoFit/>
            </a:bodyPr>
            <a:lstStyle/>
            <a:p>
              <a:pPr algn="ctr"/>
              <a:r>
                <a:rPr lang="en-IN" sz="1600" b="1" dirty="0">
                  <a:latin typeface="Berlin Sans FB Demi" panose="020E0802020502020306" pitchFamily="34" charset="0"/>
                </a:rPr>
                <a:t>Frontend</a:t>
              </a:r>
            </a:p>
          </p:txBody>
        </p:sp>
        <p:pic>
          <p:nvPicPr>
            <p:cNvPr id="14" name="Picture 13" descr="Tutorial: Introduzione a React – React">
              <a:extLst>
                <a:ext uri="{FF2B5EF4-FFF2-40B4-BE49-F238E27FC236}">
                  <a16:creationId xmlns:a16="http://schemas.microsoft.com/office/drawing/2014/main" id="{596F643E-4F84-D1BA-F052-95FB574FD48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48750" y1="49048" x2="50583" y2="50000"/>
                          <a14:foregroundMark x1="50250" y1="52698" x2="50667" y2="47937"/>
                          <a14:foregroundMark x1="50333" y1="49206" x2="51333" y2="50635"/>
                          <a14:backgroundMark x1="46333" y1="33333" x2="45500" y2="31905"/>
                          <a14:backgroundMark x1="54917" y1="33333" x2="55083" y2="36984"/>
                          <a14:backgroundMark x1="59250" y1="31746" x2="59250" y2="34444"/>
                          <a14:backgroundMark x1="59083" y1="39048" x2="58833" y2="39048"/>
                          <a14:backgroundMark x1="58583" y1="44921" x2="58917" y2="46190"/>
                          <a14:backgroundMark x1="56000" y1="44127" x2="56000" y2="42698"/>
                          <a14:backgroundMark x1="54333" y1="51111" x2="52583" y2="46667"/>
                          <a14:backgroundMark x1="49917" y1="36667" x2="50083" y2="35714"/>
                          <a14:backgroundMark x1="40917" y1="52222" x2="40750" y2="47143"/>
                          <a14:backgroundMark x1="44417" y1="42381" x2="44417" y2="42540"/>
                          <a14:backgroundMark x1="45083" y1="62857" x2="45083" y2="62857"/>
                          <a14:backgroundMark x1="45083" y1="62857" x2="45083" y2="62857"/>
                          <a14:backgroundMark x1="44083" y1="56190" x2="44083" y2="56190"/>
                          <a14:backgroundMark x1="44083" y1="56190" x2="44083" y2="56190"/>
                          <a14:backgroundMark x1="54500" y1="66190" x2="54500" y2="66190"/>
                          <a14:backgroundMark x1="54500" y1="66190" x2="54500" y2="66190"/>
                          <a14:backgroundMark x1="56250" y1="55556" x2="56250" y2="55556"/>
                          <a14:backgroundMark x1="56250" y1="55556" x2="56250" y2="55556"/>
                          <a14:backgroundMark x1="49917" y1="62698" x2="49917" y2="62698"/>
                          <a14:backgroundMark x1="49917" y1="62698" x2="49917" y2="62698"/>
                          <a14:backgroundMark x1="59167" y1="65714" x2="59167" y2="65714"/>
                          <a14:backgroundMark x1="59167" y1="65714" x2="59167" y2="65714"/>
                        </a14:backgroundRemoval>
                      </a14:imgEffect>
                    </a14:imgLayer>
                  </a14:imgProps>
                </a:ext>
              </a:extLst>
            </a:blip>
            <a:stretch>
              <a:fillRect/>
            </a:stretch>
          </p:blipFill>
          <p:spPr>
            <a:xfrm>
              <a:off x="149947" y="5186939"/>
              <a:ext cx="1619399" cy="761731"/>
            </a:xfrm>
            <a:prstGeom prst="rect">
              <a:avLst/>
            </a:prstGeom>
          </p:spPr>
        </p:pic>
        <p:sp>
          <p:nvSpPr>
            <p:cNvPr id="15" name="TextBox 14">
              <a:extLst>
                <a:ext uri="{FF2B5EF4-FFF2-40B4-BE49-F238E27FC236}">
                  <a16:creationId xmlns:a16="http://schemas.microsoft.com/office/drawing/2014/main" id="{60552C38-08D6-0CFD-B172-ECDF9C6B5F12}"/>
                </a:ext>
              </a:extLst>
            </p:cNvPr>
            <p:cNvSpPr txBox="1"/>
            <p:nvPr/>
          </p:nvSpPr>
          <p:spPr>
            <a:xfrm>
              <a:off x="187683" y="5670945"/>
              <a:ext cx="1420368" cy="523220"/>
            </a:xfrm>
            <a:prstGeom prst="rect">
              <a:avLst/>
            </a:prstGeom>
            <a:noFill/>
          </p:spPr>
          <p:txBody>
            <a:bodyPr wrap="square" rtlCol="0">
              <a:spAutoFit/>
            </a:bodyPr>
            <a:lstStyle/>
            <a:p>
              <a:pPr algn="ctr"/>
              <a:r>
                <a:rPr lang="en-IN" sz="1400" b="1" dirty="0"/>
                <a:t>React.js/ Tailwind </a:t>
              </a:r>
              <a:r>
                <a:rPr lang="en-IN" sz="1400" b="1" dirty="0" err="1"/>
                <a:t>css</a:t>
              </a:r>
              <a:endParaRPr lang="en-IN" sz="1400" b="1" dirty="0"/>
            </a:p>
          </p:txBody>
        </p:sp>
        <p:cxnSp>
          <p:nvCxnSpPr>
            <p:cNvPr id="17" name="Straight Connector 16">
              <a:extLst>
                <a:ext uri="{FF2B5EF4-FFF2-40B4-BE49-F238E27FC236}">
                  <a16:creationId xmlns:a16="http://schemas.microsoft.com/office/drawing/2014/main" id="{75F1FEA6-C330-D02E-1755-9C43EC1251EA}"/>
                </a:ext>
              </a:extLst>
            </p:cNvPr>
            <p:cNvCxnSpPr/>
            <p:nvPr/>
          </p:nvCxnSpPr>
          <p:spPr>
            <a:xfrm>
              <a:off x="1470595" y="5191260"/>
              <a:ext cx="0" cy="882238"/>
            </a:xfrm>
            <a:prstGeom prst="line">
              <a:avLst/>
            </a:prstGeom>
            <a:ln/>
          </p:spPr>
          <p:style>
            <a:lnRef idx="1">
              <a:schemeClr val="accent5"/>
            </a:lnRef>
            <a:fillRef idx="0">
              <a:schemeClr val="accent5"/>
            </a:fillRef>
            <a:effectRef idx="0">
              <a:schemeClr val="accent5"/>
            </a:effectRef>
            <a:fontRef idx="minor">
              <a:schemeClr val="tx1"/>
            </a:fontRef>
          </p:style>
        </p:cxnSp>
        <p:sp>
          <p:nvSpPr>
            <p:cNvPr id="18" name="TextBox 17">
              <a:extLst>
                <a:ext uri="{FF2B5EF4-FFF2-40B4-BE49-F238E27FC236}">
                  <a16:creationId xmlns:a16="http://schemas.microsoft.com/office/drawing/2014/main" id="{307C1361-9C77-0574-0126-B1C5896C4DB3}"/>
                </a:ext>
              </a:extLst>
            </p:cNvPr>
            <p:cNvSpPr txBox="1"/>
            <p:nvPr/>
          </p:nvSpPr>
          <p:spPr>
            <a:xfrm>
              <a:off x="1451151" y="5035968"/>
              <a:ext cx="1216246" cy="338554"/>
            </a:xfrm>
            <a:prstGeom prst="rect">
              <a:avLst/>
            </a:prstGeom>
            <a:noFill/>
          </p:spPr>
          <p:txBody>
            <a:bodyPr wrap="square" rtlCol="0">
              <a:spAutoFit/>
            </a:bodyPr>
            <a:lstStyle/>
            <a:p>
              <a:pPr algn="ctr"/>
              <a:r>
                <a:rPr lang="en-IN" sz="1600" b="1" dirty="0">
                  <a:latin typeface="Berlin Sans FB Demi" panose="020E0802020502020306" pitchFamily="34" charset="0"/>
                </a:rPr>
                <a:t>Backend</a:t>
              </a:r>
            </a:p>
          </p:txBody>
        </p:sp>
        <p:sp>
          <p:nvSpPr>
            <p:cNvPr id="19" name="TextBox 18">
              <a:extLst>
                <a:ext uri="{FF2B5EF4-FFF2-40B4-BE49-F238E27FC236}">
                  <a16:creationId xmlns:a16="http://schemas.microsoft.com/office/drawing/2014/main" id="{53AF052D-97CE-5298-579A-023810209CBB}"/>
                </a:ext>
              </a:extLst>
            </p:cNvPr>
            <p:cNvSpPr txBox="1"/>
            <p:nvPr/>
          </p:nvSpPr>
          <p:spPr>
            <a:xfrm>
              <a:off x="1311225" y="5669893"/>
              <a:ext cx="1420368" cy="523220"/>
            </a:xfrm>
            <a:prstGeom prst="rect">
              <a:avLst/>
            </a:prstGeom>
            <a:noFill/>
          </p:spPr>
          <p:txBody>
            <a:bodyPr wrap="square" rtlCol="0">
              <a:spAutoFit/>
            </a:bodyPr>
            <a:lstStyle/>
            <a:p>
              <a:pPr algn="ctr"/>
              <a:r>
                <a:rPr lang="en-IN" sz="1400" b="1" dirty="0"/>
                <a:t>Node.js/</a:t>
              </a:r>
            </a:p>
            <a:p>
              <a:pPr algn="ctr"/>
              <a:r>
                <a:rPr lang="en-IN" sz="1400" b="1" dirty="0"/>
                <a:t>Express</a:t>
              </a:r>
            </a:p>
          </p:txBody>
        </p:sp>
        <p:cxnSp>
          <p:nvCxnSpPr>
            <p:cNvPr id="20" name="Straight Connector 19">
              <a:extLst>
                <a:ext uri="{FF2B5EF4-FFF2-40B4-BE49-F238E27FC236}">
                  <a16:creationId xmlns:a16="http://schemas.microsoft.com/office/drawing/2014/main" id="{39997F0A-C6E2-AB2F-087F-8107CB9178B2}"/>
                </a:ext>
              </a:extLst>
            </p:cNvPr>
            <p:cNvCxnSpPr/>
            <p:nvPr/>
          </p:nvCxnSpPr>
          <p:spPr>
            <a:xfrm>
              <a:off x="2687838" y="5212056"/>
              <a:ext cx="0" cy="882238"/>
            </a:xfrm>
            <a:prstGeom prst="line">
              <a:avLst/>
            </a:prstGeom>
            <a:ln/>
          </p:spPr>
          <p:style>
            <a:lnRef idx="1">
              <a:schemeClr val="accent5"/>
            </a:lnRef>
            <a:fillRef idx="0">
              <a:schemeClr val="accent5"/>
            </a:fillRef>
            <a:effectRef idx="0">
              <a:schemeClr val="accent5"/>
            </a:effectRef>
            <a:fontRef idx="minor">
              <a:schemeClr val="tx1"/>
            </a:fontRef>
          </p:style>
        </p:cxnSp>
        <p:sp>
          <p:nvSpPr>
            <p:cNvPr id="21" name="TextBox 20">
              <a:extLst>
                <a:ext uri="{FF2B5EF4-FFF2-40B4-BE49-F238E27FC236}">
                  <a16:creationId xmlns:a16="http://schemas.microsoft.com/office/drawing/2014/main" id="{9E381FCB-64A0-97F7-15D5-0C57C1F7464D}"/>
                </a:ext>
              </a:extLst>
            </p:cNvPr>
            <p:cNvSpPr txBox="1"/>
            <p:nvPr/>
          </p:nvSpPr>
          <p:spPr>
            <a:xfrm>
              <a:off x="2694372" y="5679446"/>
              <a:ext cx="1182181" cy="523220"/>
            </a:xfrm>
            <a:prstGeom prst="rect">
              <a:avLst/>
            </a:prstGeom>
            <a:noFill/>
          </p:spPr>
          <p:txBody>
            <a:bodyPr wrap="square" rtlCol="0">
              <a:spAutoFit/>
            </a:bodyPr>
            <a:lstStyle/>
            <a:p>
              <a:pPr algn="ctr"/>
              <a:r>
                <a:rPr lang="en-IN" sz="1400" b="1" dirty="0"/>
                <a:t>Python, NLP, Scikit-learn</a:t>
              </a:r>
            </a:p>
          </p:txBody>
        </p:sp>
        <p:sp>
          <p:nvSpPr>
            <p:cNvPr id="22" name="TextBox 21">
              <a:extLst>
                <a:ext uri="{FF2B5EF4-FFF2-40B4-BE49-F238E27FC236}">
                  <a16:creationId xmlns:a16="http://schemas.microsoft.com/office/drawing/2014/main" id="{99AC7F3C-407A-DD09-6DEF-14FDC765718B}"/>
                </a:ext>
              </a:extLst>
            </p:cNvPr>
            <p:cNvSpPr txBox="1"/>
            <p:nvPr/>
          </p:nvSpPr>
          <p:spPr>
            <a:xfrm>
              <a:off x="2676654" y="5024832"/>
              <a:ext cx="1182179" cy="307777"/>
            </a:xfrm>
            <a:prstGeom prst="rect">
              <a:avLst/>
            </a:prstGeom>
            <a:noFill/>
          </p:spPr>
          <p:txBody>
            <a:bodyPr wrap="square" rtlCol="0">
              <a:spAutoFit/>
            </a:bodyPr>
            <a:lstStyle/>
            <a:p>
              <a:pPr algn="ctr"/>
              <a:r>
                <a:rPr lang="en-IN" sz="1400" dirty="0">
                  <a:latin typeface="Berlin Sans FB Demi" panose="020E0802020502020306" pitchFamily="34" charset="0"/>
                </a:rPr>
                <a:t>AI (models)</a:t>
              </a:r>
            </a:p>
          </p:txBody>
        </p:sp>
        <p:cxnSp>
          <p:nvCxnSpPr>
            <p:cNvPr id="23" name="Straight Connector 22">
              <a:extLst>
                <a:ext uri="{FF2B5EF4-FFF2-40B4-BE49-F238E27FC236}">
                  <a16:creationId xmlns:a16="http://schemas.microsoft.com/office/drawing/2014/main" id="{ADC61855-3BF1-A685-D6B7-82F02FD0D896}"/>
                </a:ext>
              </a:extLst>
            </p:cNvPr>
            <p:cNvCxnSpPr/>
            <p:nvPr/>
          </p:nvCxnSpPr>
          <p:spPr>
            <a:xfrm>
              <a:off x="3876553" y="5191260"/>
              <a:ext cx="0" cy="882238"/>
            </a:xfrm>
            <a:prstGeom prst="line">
              <a:avLst/>
            </a:prstGeom>
            <a:ln/>
          </p:spPr>
          <p:style>
            <a:lnRef idx="1">
              <a:schemeClr val="accent5"/>
            </a:lnRef>
            <a:fillRef idx="0">
              <a:schemeClr val="accent5"/>
            </a:fillRef>
            <a:effectRef idx="0">
              <a:schemeClr val="accent5"/>
            </a:effectRef>
            <a:fontRef idx="minor">
              <a:schemeClr val="tx1"/>
            </a:fontRef>
          </p:style>
        </p:cxnSp>
        <p:sp>
          <p:nvSpPr>
            <p:cNvPr id="24" name="TextBox 23">
              <a:extLst>
                <a:ext uri="{FF2B5EF4-FFF2-40B4-BE49-F238E27FC236}">
                  <a16:creationId xmlns:a16="http://schemas.microsoft.com/office/drawing/2014/main" id="{26C49C67-6057-A630-E7A1-AADFDA31A4CE}"/>
                </a:ext>
              </a:extLst>
            </p:cNvPr>
            <p:cNvSpPr txBox="1"/>
            <p:nvPr/>
          </p:nvSpPr>
          <p:spPr>
            <a:xfrm>
              <a:off x="3812018" y="5026165"/>
              <a:ext cx="1215575" cy="307777"/>
            </a:xfrm>
            <a:prstGeom prst="rect">
              <a:avLst/>
            </a:prstGeom>
            <a:noFill/>
          </p:spPr>
          <p:txBody>
            <a:bodyPr wrap="square" rtlCol="0">
              <a:spAutoFit/>
            </a:bodyPr>
            <a:lstStyle/>
            <a:p>
              <a:pPr algn="ctr"/>
              <a:r>
                <a:rPr lang="en-IN" sz="1400" dirty="0">
                  <a:latin typeface="Berlin Sans FB Demi" panose="020E0802020502020306" pitchFamily="34" charset="0"/>
                </a:rPr>
                <a:t>Database</a:t>
              </a:r>
            </a:p>
          </p:txBody>
        </p:sp>
        <p:sp>
          <p:nvSpPr>
            <p:cNvPr id="25" name="TextBox 24">
              <a:extLst>
                <a:ext uri="{FF2B5EF4-FFF2-40B4-BE49-F238E27FC236}">
                  <a16:creationId xmlns:a16="http://schemas.microsoft.com/office/drawing/2014/main" id="{A93C06E3-810C-7520-D0BB-A22302E1901A}"/>
                </a:ext>
              </a:extLst>
            </p:cNvPr>
            <p:cNvSpPr txBox="1"/>
            <p:nvPr/>
          </p:nvSpPr>
          <p:spPr>
            <a:xfrm>
              <a:off x="3931433" y="5648649"/>
              <a:ext cx="1263294" cy="523220"/>
            </a:xfrm>
            <a:prstGeom prst="rect">
              <a:avLst/>
            </a:prstGeom>
            <a:noFill/>
          </p:spPr>
          <p:txBody>
            <a:bodyPr wrap="square" rtlCol="0">
              <a:spAutoFit/>
            </a:bodyPr>
            <a:lstStyle/>
            <a:p>
              <a:r>
                <a:rPr lang="en-IN" sz="1400" b="1" dirty="0"/>
                <a:t>MongoDB/</a:t>
              </a:r>
            </a:p>
            <a:p>
              <a:r>
                <a:rPr lang="en-IN" sz="1400" b="1" dirty="0"/>
                <a:t>PostgreSQL</a:t>
              </a:r>
            </a:p>
          </p:txBody>
        </p:sp>
        <p:cxnSp>
          <p:nvCxnSpPr>
            <p:cNvPr id="26" name="Straight Connector 25">
              <a:extLst>
                <a:ext uri="{FF2B5EF4-FFF2-40B4-BE49-F238E27FC236}">
                  <a16:creationId xmlns:a16="http://schemas.microsoft.com/office/drawing/2014/main" id="{8C0DF22A-D4E5-60BC-9DC1-7AE6149A1016}"/>
                </a:ext>
              </a:extLst>
            </p:cNvPr>
            <p:cNvCxnSpPr/>
            <p:nvPr/>
          </p:nvCxnSpPr>
          <p:spPr>
            <a:xfrm>
              <a:off x="4961579" y="5145185"/>
              <a:ext cx="0" cy="882238"/>
            </a:xfrm>
            <a:prstGeom prst="line">
              <a:avLst/>
            </a:prstGeom>
            <a:ln/>
          </p:spPr>
          <p:style>
            <a:lnRef idx="1">
              <a:schemeClr val="accent5"/>
            </a:lnRef>
            <a:fillRef idx="0">
              <a:schemeClr val="accent5"/>
            </a:fillRef>
            <a:effectRef idx="0">
              <a:schemeClr val="accent5"/>
            </a:effectRef>
            <a:fontRef idx="minor">
              <a:schemeClr val="tx1"/>
            </a:fontRef>
          </p:style>
        </p:cxnSp>
        <p:sp>
          <p:nvSpPr>
            <p:cNvPr id="27" name="TextBox 26">
              <a:extLst>
                <a:ext uri="{FF2B5EF4-FFF2-40B4-BE49-F238E27FC236}">
                  <a16:creationId xmlns:a16="http://schemas.microsoft.com/office/drawing/2014/main" id="{65500970-BC04-46E9-24A7-DE86509524A7}"/>
                </a:ext>
              </a:extLst>
            </p:cNvPr>
            <p:cNvSpPr txBox="1"/>
            <p:nvPr/>
          </p:nvSpPr>
          <p:spPr>
            <a:xfrm>
              <a:off x="5091194" y="5021983"/>
              <a:ext cx="815611" cy="323165"/>
            </a:xfrm>
            <a:prstGeom prst="rect">
              <a:avLst/>
            </a:prstGeom>
            <a:noFill/>
          </p:spPr>
          <p:txBody>
            <a:bodyPr wrap="square" rtlCol="0">
              <a:spAutoFit/>
            </a:bodyPr>
            <a:lstStyle/>
            <a:p>
              <a:pPr algn="ctr"/>
              <a:r>
                <a:rPr lang="en-IN" sz="1500" b="1" dirty="0">
                  <a:latin typeface="Berlin Sans FB Demi" panose="020E0802020502020306" pitchFamily="34" charset="0"/>
                </a:rPr>
                <a:t>Cloud</a:t>
              </a:r>
            </a:p>
          </p:txBody>
        </p:sp>
        <p:sp>
          <p:nvSpPr>
            <p:cNvPr id="28" name="TextBox 27">
              <a:extLst>
                <a:ext uri="{FF2B5EF4-FFF2-40B4-BE49-F238E27FC236}">
                  <a16:creationId xmlns:a16="http://schemas.microsoft.com/office/drawing/2014/main" id="{7735975E-2395-CA4B-4F47-68FBF2D5D28F}"/>
                </a:ext>
              </a:extLst>
            </p:cNvPr>
            <p:cNvSpPr txBox="1"/>
            <p:nvPr/>
          </p:nvSpPr>
          <p:spPr>
            <a:xfrm>
              <a:off x="4930137" y="5666507"/>
              <a:ext cx="1149990" cy="523220"/>
            </a:xfrm>
            <a:prstGeom prst="rect">
              <a:avLst/>
            </a:prstGeom>
            <a:noFill/>
          </p:spPr>
          <p:txBody>
            <a:bodyPr wrap="square" rtlCol="0">
              <a:spAutoFit/>
            </a:bodyPr>
            <a:lstStyle/>
            <a:p>
              <a:pPr algn="ctr"/>
              <a:r>
                <a:rPr lang="en-IN" sz="1400" b="1" dirty="0"/>
                <a:t>Azure/</a:t>
              </a:r>
            </a:p>
            <a:p>
              <a:pPr algn="ctr"/>
              <a:r>
                <a:rPr lang="en-IN" sz="1400" b="1" dirty="0" err="1"/>
                <a:t>GoogleCloud</a:t>
              </a:r>
              <a:endParaRPr lang="en-IN" sz="1400" b="1" dirty="0"/>
            </a:p>
          </p:txBody>
        </p:sp>
        <p:cxnSp>
          <p:nvCxnSpPr>
            <p:cNvPr id="29" name="Straight Connector 28">
              <a:extLst>
                <a:ext uri="{FF2B5EF4-FFF2-40B4-BE49-F238E27FC236}">
                  <a16:creationId xmlns:a16="http://schemas.microsoft.com/office/drawing/2014/main" id="{5FAF54B9-5054-0EB7-1109-7E726A486454}"/>
                </a:ext>
              </a:extLst>
            </p:cNvPr>
            <p:cNvCxnSpPr/>
            <p:nvPr/>
          </p:nvCxnSpPr>
          <p:spPr>
            <a:xfrm>
              <a:off x="6108318" y="5186938"/>
              <a:ext cx="0" cy="882238"/>
            </a:xfrm>
            <a:prstGeom prst="line">
              <a:avLst/>
            </a:prstGeom>
            <a:ln/>
          </p:spPr>
          <p:style>
            <a:lnRef idx="1">
              <a:schemeClr val="accent5"/>
            </a:lnRef>
            <a:fillRef idx="0">
              <a:schemeClr val="accent5"/>
            </a:fillRef>
            <a:effectRef idx="0">
              <a:schemeClr val="accent5"/>
            </a:effectRef>
            <a:fontRef idx="minor">
              <a:schemeClr val="tx1"/>
            </a:fontRef>
          </p:style>
        </p:cxnSp>
        <p:pic>
          <p:nvPicPr>
            <p:cNvPr id="38" name="Picture 37">
              <a:extLst>
                <a:ext uri="{FF2B5EF4-FFF2-40B4-BE49-F238E27FC236}">
                  <a16:creationId xmlns:a16="http://schemas.microsoft.com/office/drawing/2014/main" id="{FFC0BF1E-9222-F146-6D98-236475476EE2}"/>
                </a:ext>
              </a:extLst>
            </p:cNvPr>
            <p:cNvPicPr>
              <a:picLocks noChangeAspect="1"/>
            </p:cNvPicPr>
            <p:nvPr/>
          </p:nvPicPr>
          <p:blipFill>
            <a:blip r:embed="rId7">
              <a:extLst>
                <a:ext uri="{837473B0-CC2E-450A-ABE3-18F120FF3D39}">
                  <a1611:picAttrSrcUrl xmlns:a1611="http://schemas.microsoft.com/office/drawing/2016/11/main" r:id="rId8"/>
                </a:ext>
              </a:extLst>
            </a:blip>
            <a:stretch>
              <a:fillRect/>
            </a:stretch>
          </p:blipFill>
          <p:spPr>
            <a:xfrm>
              <a:off x="1589341" y="5296123"/>
              <a:ext cx="1001500" cy="500750"/>
            </a:xfrm>
            <a:prstGeom prst="rect">
              <a:avLst/>
            </a:prstGeom>
          </p:spPr>
        </p:pic>
        <p:pic>
          <p:nvPicPr>
            <p:cNvPr id="41" name="Picture 40">
              <a:extLst>
                <a:ext uri="{FF2B5EF4-FFF2-40B4-BE49-F238E27FC236}">
                  <a16:creationId xmlns:a16="http://schemas.microsoft.com/office/drawing/2014/main" id="{E2B33C73-F21A-EEEE-BFBF-D0A2FBFFB5AB}"/>
                </a:ext>
              </a:extLst>
            </p:cNvPr>
            <p:cNvPicPr>
              <a:picLocks noChangeAspect="1"/>
            </p:cNvPicPr>
            <p:nvPr/>
          </p:nvPicPr>
          <p:blipFill>
            <a:blip r:embed="rId9">
              <a:extLst>
                <a:ext uri="{837473B0-CC2E-450A-ABE3-18F120FF3D39}">
                  <a1611:picAttrSrcUrl xmlns:a1611="http://schemas.microsoft.com/office/drawing/2016/11/main" r:id="rId10"/>
                </a:ext>
              </a:extLst>
            </a:blip>
            <a:stretch>
              <a:fillRect/>
            </a:stretch>
          </p:blipFill>
          <p:spPr>
            <a:xfrm>
              <a:off x="3047297" y="5367841"/>
              <a:ext cx="405607" cy="405607"/>
            </a:xfrm>
            <a:prstGeom prst="rect">
              <a:avLst/>
            </a:prstGeom>
          </p:spPr>
        </p:pic>
        <p:pic>
          <p:nvPicPr>
            <p:cNvPr id="46" name="Picture 45">
              <a:extLst>
                <a:ext uri="{FF2B5EF4-FFF2-40B4-BE49-F238E27FC236}">
                  <a16:creationId xmlns:a16="http://schemas.microsoft.com/office/drawing/2014/main" id="{110F5935-13CC-5064-D380-E4B84C88462F}"/>
                </a:ext>
              </a:extLst>
            </p:cNvPr>
            <p:cNvPicPr>
              <a:picLocks noChangeAspect="1"/>
            </p:cNvPicPr>
            <p:nvPr/>
          </p:nvPicPr>
          <p:blipFill>
            <a:blip r:embed="rId11">
              <a:extLst>
                <a:ext uri="{837473B0-CC2E-450A-ABE3-18F120FF3D39}">
                  <a1611:picAttrSrcUrl xmlns:a1611="http://schemas.microsoft.com/office/drawing/2016/11/main" r:id="rId12"/>
                </a:ext>
              </a:extLst>
            </a:blip>
            <a:stretch>
              <a:fillRect/>
            </a:stretch>
          </p:blipFill>
          <p:spPr>
            <a:xfrm>
              <a:off x="4205794" y="5374522"/>
              <a:ext cx="404206" cy="416781"/>
            </a:xfrm>
            <a:prstGeom prst="rect">
              <a:avLst/>
            </a:prstGeom>
          </p:spPr>
        </p:pic>
        <p:pic>
          <p:nvPicPr>
            <p:cNvPr id="49" name="Picture 48">
              <a:extLst>
                <a:ext uri="{FF2B5EF4-FFF2-40B4-BE49-F238E27FC236}">
                  <a16:creationId xmlns:a16="http://schemas.microsoft.com/office/drawing/2014/main" id="{AD7905FF-71CE-60F4-1DEF-380706BBE8DD}"/>
                </a:ext>
              </a:extLst>
            </p:cNvPr>
            <p:cNvPicPr>
              <a:picLocks noChangeAspect="1"/>
            </p:cNvPicPr>
            <p:nvPr/>
          </p:nvPicPr>
          <p:blipFill>
            <a:blip r:embed="rId13">
              <a:extLst>
                <a:ext uri="{837473B0-CC2E-450A-ABE3-18F120FF3D39}">
                  <a1611:picAttrSrcUrl xmlns:a1611="http://schemas.microsoft.com/office/drawing/2016/11/main" r:id="rId14"/>
                </a:ext>
              </a:extLst>
            </a:blip>
            <a:stretch>
              <a:fillRect/>
            </a:stretch>
          </p:blipFill>
          <p:spPr>
            <a:xfrm>
              <a:off x="5228483" y="5240782"/>
              <a:ext cx="582986" cy="582986"/>
            </a:xfrm>
            <a:prstGeom prst="rect">
              <a:avLst/>
            </a:prstGeom>
          </p:spPr>
        </p:pic>
        <p:pic>
          <p:nvPicPr>
            <p:cNvPr id="56" name="Picture 55">
              <a:extLst>
                <a:ext uri="{FF2B5EF4-FFF2-40B4-BE49-F238E27FC236}">
                  <a16:creationId xmlns:a16="http://schemas.microsoft.com/office/drawing/2014/main" id="{DA9AF89F-A39E-ACA2-8816-AE4E2AF01065}"/>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foregroundMark x1="39750" y1="56000" x2="42375" y2="52625"/>
                        </a14:backgroundRemoval>
                      </a14:imgEffect>
                    </a14:imgLayer>
                  </a14:imgProps>
                </a:ext>
                <a:ext uri="{837473B0-CC2E-450A-ABE3-18F120FF3D39}">
                  <a1611:picAttrSrcUrl xmlns:a1611="http://schemas.microsoft.com/office/drawing/2016/11/main" r:id="rId17"/>
                </a:ext>
              </a:extLst>
            </a:blip>
            <a:stretch>
              <a:fillRect/>
            </a:stretch>
          </p:blipFill>
          <p:spPr>
            <a:xfrm>
              <a:off x="6219127" y="5139309"/>
              <a:ext cx="737619" cy="737619"/>
            </a:xfrm>
            <a:prstGeom prst="rect">
              <a:avLst/>
            </a:prstGeom>
          </p:spPr>
        </p:pic>
        <p:sp>
          <p:nvSpPr>
            <p:cNvPr id="17418" name="TextBox 17417">
              <a:extLst>
                <a:ext uri="{FF2B5EF4-FFF2-40B4-BE49-F238E27FC236}">
                  <a16:creationId xmlns:a16="http://schemas.microsoft.com/office/drawing/2014/main" id="{AE266980-DAF2-43EE-B0DD-0EAC6D5103EC}"/>
                </a:ext>
              </a:extLst>
            </p:cNvPr>
            <p:cNvSpPr txBox="1"/>
            <p:nvPr/>
          </p:nvSpPr>
          <p:spPr>
            <a:xfrm>
              <a:off x="2528024" y="4694211"/>
              <a:ext cx="2260210" cy="369332"/>
            </a:xfrm>
            <a:prstGeom prst="rect">
              <a:avLst/>
            </a:prstGeom>
            <a:noFill/>
          </p:spPr>
          <p:txBody>
            <a:bodyPr wrap="square" rtlCol="0">
              <a:spAutoFit/>
            </a:bodyPr>
            <a:lstStyle/>
            <a:p>
              <a:pPr algn="ctr"/>
              <a:r>
                <a:rPr lang="en-IN" b="1" dirty="0">
                  <a:latin typeface="Berlin Sans FB Demi" panose="020E0802020502020306" pitchFamily="34" charset="0"/>
                </a:rPr>
                <a:t>TECH STACK</a:t>
              </a:r>
            </a:p>
          </p:txBody>
        </p:sp>
      </p:grpSp>
      <p:sp>
        <p:nvSpPr>
          <p:cNvPr id="17424" name="Rectangle: Rounded Corners 17423">
            <a:extLst>
              <a:ext uri="{FF2B5EF4-FFF2-40B4-BE49-F238E27FC236}">
                <a16:creationId xmlns:a16="http://schemas.microsoft.com/office/drawing/2014/main" id="{24F0206F-5F41-6B54-C9F0-45A801E680E4}"/>
              </a:ext>
            </a:extLst>
          </p:cNvPr>
          <p:cNvSpPr/>
          <p:nvPr/>
        </p:nvSpPr>
        <p:spPr>
          <a:xfrm>
            <a:off x="6785148" y="889202"/>
            <a:ext cx="2845738"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17420" name="TextBox 17419">
            <a:extLst>
              <a:ext uri="{FF2B5EF4-FFF2-40B4-BE49-F238E27FC236}">
                <a16:creationId xmlns:a16="http://schemas.microsoft.com/office/drawing/2014/main" id="{48BE4154-7489-48B6-CDBE-8F5E5BEF98CD}"/>
              </a:ext>
            </a:extLst>
          </p:cNvPr>
          <p:cNvSpPr txBox="1"/>
          <p:nvPr/>
        </p:nvSpPr>
        <p:spPr>
          <a:xfrm>
            <a:off x="6809647" y="827085"/>
            <a:ext cx="2785146" cy="400110"/>
          </a:xfrm>
          <a:prstGeom prst="rect">
            <a:avLst/>
          </a:prstGeom>
          <a:noFill/>
        </p:spPr>
        <p:txBody>
          <a:bodyPr wrap="square" rtlCol="0">
            <a:spAutoFit/>
          </a:bodyPr>
          <a:lstStyle/>
          <a:p>
            <a:pPr algn="ctr"/>
            <a:r>
              <a:rPr lang="en-IN" sz="2000" b="1" dirty="0" err="1">
                <a:latin typeface="+mj-lt"/>
              </a:rPr>
              <a:t>WorkFlow</a:t>
            </a:r>
            <a:r>
              <a:rPr lang="en-IN" sz="2000" b="1" dirty="0">
                <a:latin typeface="+mj-lt"/>
              </a:rPr>
              <a:t> &amp; Process</a:t>
            </a:r>
            <a:r>
              <a:rPr lang="en-IN" b="1" dirty="0">
                <a:latin typeface="Berlin Sans FB Demi" panose="020E0802020502020306" pitchFamily="34" charset="0"/>
              </a:rPr>
              <a:t> :</a:t>
            </a:r>
          </a:p>
        </p:txBody>
      </p:sp>
      <p:sp>
        <p:nvSpPr>
          <p:cNvPr id="17427" name="TextBox 17426">
            <a:extLst>
              <a:ext uri="{FF2B5EF4-FFF2-40B4-BE49-F238E27FC236}">
                <a16:creationId xmlns:a16="http://schemas.microsoft.com/office/drawing/2014/main" id="{341C981F-006B-C4BA-7B80-CB145491D75A}"/>
              </a:ext>
            </a:extLst>
          </p:cNvPr>
          <p:cNvSpPr txBox="1"/>
          <p:nvPr/>
        </p:nvSpPr>
        <p:spPr>
          <a:xfrm>
            <a:off x="126432" y="963020"/>
            <a:ext cx="6812692" cy="4035147"/>
          </a:xfrm>
          <a:prstGeom prst="roundRect">
            <a:avLst/>
          </a:prstGeom>
          <a:solidFill>
            <a:schemeClr val="accent4">
              <a:lumMod val="20000"/>
              <a:lumOff val="80000"/>
              <a:alpha val="50000"/>
            </a:schemeClr>
          </a:solidFill>
          <a:ln>
            <a:solidFill>
              <a:schemeClr val="accent4"/>
            </a:solidFill>
          </a:ln>
        </p:spPr>
        <p:txBody>
          <a:bodyPr wrap="square" rtlCol="0">
            <a:spAutoFit/>
          </a:bodyPr>
          <a:lstStyle/>
          <a:p>
            <a:pPr marL="342900" lvl="0" indent="-342900">
              <a:buAutoNum type="arabicPeriod"/>
            </a:pPr>
            <a:r>
              <a:rPr lang="en-IN" sz="1650" b="1" dirty="0"/>
              <a:t>Onboarding &amp; Assessment:</a:t>
            </a:r>
            <a:r>
              <a:rPr lang="en-IN" sz="1650" dirty="0"/>
              <a:t> Role-based profiling (Student, Academia, Industry) and initial skill/requirement mapping.</a:t>
            </a:r>
          </a:p>
          <a:p>
            <a:pPr lvl="0"/>
            <a:endParaRPr lang="en-IN" sz="1650" dirty="0"/>
          </a:p>
          <a:p>
            <a:pPr lvl="0"/>
            <a:r>
              <a:rPr lang="en-IN" sz="1650" b="1" dirty="0"/>
              <a:t>2. AI Gap Analysis:</a:t>
            </a:r>
            <a:r>
              <a:rPr lang="en-IN" sz="1650" dirty="0"/>
              <a:t> Benchmarking user competencies against current industry demands to identify specific skill gaps.</a:t>
            </a:r>
          </a:p>
          <a:p>
            <a:pPr lvl="0"/>
            <a:endParaRPr lang="en-IN" sz="1650" dirty="0"/>
          </a:p>
          <a:p>
            <a:pPr lvl="0"/>
            <a:r>
              <a:rPr lang="en-IN" sz="1650" b="1" dirty="0"/>
              <a:t>3. Targeted Upskilling:</a:t>
            </a:r>
            <a:r>
              <a:rPr lang="en-IN" sz="1650" dirty="0"/>
              <a:t> Recommending personalized courses, FDPs, and mentorships to bridge identified gaps.</a:t>
            </a:r>
          </a:p>
          <a:p>
            <a:pPr lvl="0"/>
            <a:endParaRPr lang="en-IN" sz="1650" dirty="0"/>
          </a:p>
          <a:p>
            <a:pPr lvl="0"/>
            <a:r>
              <a:rPr lang="en-IN" sz="1650" b="1" dirty="0"/>
              <a:t>4. Smart Matching &amp; Collaboration:</a:t>
            </a:r>
            <a:r>
              <a:rPr lang="en-IN" sz="1650" dirty="0"/>
              <a:t> Algorithm-driven pairing for jobs, internships, and industry-academia projects.</a:t>
            </a:r>
          </a:p>
          <a:p>
            <a:pPr lvl="0"/>
            <a:endParaRPr lang="en-IN" sz="1650" dirty="0"/>
          </a:p>
          <a:p>
            <a:pPr lvl="0"/>
            <a:r>
              <a:rPr lang="en-IN" sz="1650" b="1" dirty="0"/>
              <a:t>5. Analytics &amp; Verification:</a:t>
            </a:r>
            <a:r>
              <a:rPr lang="en-IN" sz="1650" dirty="0"/>
              <a:t> Tracking real-time progress and building verified digital portfolios to ensure placement readiness.</a:t>
            </a:r>
          </a:p>
        </p:txBody>
      </p:sp>
      <p:grpSp>
        <p:nvGrpSpPr>
          <p:cNvPr id="17430" name="Group 17429">
            <a:extLst>
              <a:ext uri="{FF2B5EF4-FFF2-40B4-BE49-F238E27FC236}">
                <a16:creationId xmlns:a16="http://schemas.microsoft.com/office/drawing/2014/main" id="{ADB6AC1B-6168-BE3D-ECAC-1A1294342F69}"/>
              </a:ext>
            </a:extLst>
          </p:cNvPr>
          <p:cNvGrpSpPr/>
          <p:nvPr/>
        </p:nvGrpSpPr>
        <p:grpSpPr>
          <a:xfrm>
            <a:off x="817326" y="779360"/>
            <a:ext cx="1928948" cy="400110"/>
            <a:chOff x="1665494" y="573838"/>
            <a:chExt cx="1928948" cy="400110"/>
          </a:xfrm>
        </p:grpSpPr>
        <p:sp>
          <p:nvSpPr>
            <p:cNvPr id="17426" name="Rectangle: Rounded Corners 17425">
              <a:extLst>
                <a:ext uri="{FF2B5EF4-FFF2-40B4-BE49-F238E27FC236}">
                  <a16:creationId xmlns:a16="http://schemas.microsoft.com/office/drawing/2014/main" id="{2F0BECF2-E08E-0673-B081-512627EE5104}"/>
                </a:ext>
              </a:extLst>
            </p:cNvPr>
            <p:cNvSpPr/>
            <p:nvPr/>
          </p:nvSpPr>
          <p:spPr>
            <a:xfrm>
              <a:off x="1665494" y="628204"/>
              <a:ext cx="1698727" cy="317835"/>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dirty="0"/>
            </a:p>
          </p:txBody>
        </p:sp>
        <p:sp>
          <p:nvSpPr>
            <p:cNvPr id="58" name="TextBox 57">
              <a:extLst>
                <a:ext uri="{FF2B5EF4-FFF2-40B4-BE49-F238E27FC236}">
                  <a16:creationId xmlns:a16="http://schemas.microsoft.com/office/drawing/2014/main" id="{24555986-B4A4-962F-74ED-8B6F59CBFE1F}"/>
                </a:ext>
              </a:extLst>
            </p:cNvPr>
            <p:cNvSpPr txBox="1"/>
            <p:nvPr/>
          </p:nvSpPr>
          <p:spPr>
            <a:xfrm>
              <a:off x="1692292" y="573838"/>
              <a:ext cx="1902150" cy="400110"/>
            </a:xfrm>
            <a:prstGeom prst="rect">
              <a:avLst/>
            </a:prstGeom>
            <a:noFill/>
          </p:spPr>
          <p:txBody>
            <a:bodyPr wrap="square" rtlCol="0">
              <a:spAutoFit/>
            </a:bodyPr>
            <a:lstStyle/>
            <a:p>
              <a:r>
                <a:rPr lang="en-IN" sz="2000" b="1" dirty="0">
                  <a:latin typeface="+mn-lt"/>
                </a:rPr>
                <a:t>Methodology :</a:t>
              </a:r>
              <a:r>
                <a:rPr lang="en-IN" dirty="0"/>
                <a:t> </a:t>
              </a:r>
            </a:p>
          </p:txBody>
        </p:sp>
      </p:grpSp>
      <p:sp>
        <p:nvSpPr>
          <p:cNvPr id="9" name="Oval 8" descr="Your startup LOGO">
            <a:extLst>
              <a:ext uri="{FF2B5EF4-FFF2-40B4-BE49-F238E27FC236}">
                <a16:creationId xmlns:a16="http://schemas.microsoft.com/office/drawing/2014/main" id="{DD91B65F-932D-AA6D-D298-0444703DF49D}"/>
              </a:ext>
              <a:ext uri="{C183D7F6-B498-43B3-948B-1728B52AA6E4}">
                <adec:decorative xmlns:adec="http://schemas.microsoft.com/office/drawing/2017/decorative" val="0"/>
              </a:ext>
            </a:extLst>
          </p:cNvPr>
          <p:cNvSpPr/>
          <p:nvPr/>
        </p:nvSpPr>
        <p:spPr>
          <a:xfrm>
            <a:off x="329775" y="78651"/>
            <a:ext cx="1361374" cy="64441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b="1" dirty="0">
                <a:latin typeface="Calisto MT" panose="02040603050505030304" pitchFamily="18" charset="0"/>
              </a:rPr>
              <a:t>Code</a:t>
            </a:r>
          </a:p>
          <a:p>
            <a:pPr algn="ctr"/>
            <a:r>
              <a:rPr lang="en-IN" sz="1600" b="1" dirty="0">
                <a:latin typeface="Calisto MT" panose="02040603050505030304" pitchFamily="18" charset="0"/>
              </a:rPr>
              <a:t>Hunters</a:t>
            </a:r>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mn-lt"/>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 Template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9543" y="136522"/>
            <a:ext cx="1620000" cy="764933"/>
          </a:xfrm>
          <a:prstGeom prst="rect">
            <a:avLst/>
          </a:prstGeom>
        </p:spPr>
      </p:pic>
      <p:pic>
        <p:nvPicPr>
          <p:cNvPr id="5" name="Picture 4">
            <a:extLst>
              <a:ext uri="{FF2B5EF4-FFF2-40B4-BE49-F238E27FC236}">
                <a16:creationId xmlns:a16="http://schemas.microsoft.com/office/drawing/2014/main" id="{FF879427-0ED5-DA9F-B8AB-31D26037B915}"/>
              </a:ext>
            </a:extLst>
          </p:cNvPr>
          <p:cNvPicPr>
            <a:picLocks noChangeAspect="1"/>
          </p:cNvPicPr>
          <p:nvPr/>
        </p:nvPicPr>
        <p:blipFill>
          <a:blip r:embed="rId4"/>
          <a:srcRect l="721" t="13613" r="2366" b="1745"/>
          <a:stretch>
            <a:fillRect/>
          </a:stretch>
        </p:blipFill>
        <p:spPr>
          <a:xfrm>
            <a:off x="776747" y="1095375"/>
            <a:ext cx="10638503" cy="5195023"/>
          </a:xfrm>
          <a:prstGeom prst="rect">
            <a:avLst/>
          </a:prstGeom>
        </p:spPr>
      </p:pic>
      <p:sp>
        <p:nvSpPr>
          <p:cNvPr id="3" name="Oval 2" descr="Your startup LOGO">
            <a:extLst>
              <a:ext uri="{FF2B5EF4-FFF2-40B4-BE49-F238E27FC236}">
                <a16:creationId xmlns:a16="http://schemas.microsoft.com/office/drawing/2014/main" id="{BB96CB6E-E1E5-DFDE-D7E2-B76DF20583B7}"/>
              </a:ext>
              <a:ext uri="{C183D7F6-B498-43B3-948B-1728B52AA6E4}">
                <adec:decorative xmlns:adec="http://schemas.microsoft.com/office/drawing/2017/decorative" val="0"/>
              </a:ext>
            </a:extLst>
          </p:cNvPr>
          <p:cNvSpPr/>
          <p:nvPr/>
        </p:nvSpPr>
        <p:spPr>
          <a:xfrm>
            <a:off x="329775" y="78651"/>
            <a:ext cx="1361374" cy="64441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b="1" dirty="0">
                <a:latin typeface="Calisto MT" panose="02040603050505030304" pitchFamily="18" charset="0"/>
              </a:rPr>
              <a:t>Code</a:t>
            </a:r>
          </a:p>
          <a:p>
            <a:pPr algn="ctr"/>
            <a:r>
              <a:rPr lang="en-IN" sz="1600" b="1" dirty="0">
                <a:latin typeface="Calisto MT" panose="02040603050505030304" pitchFamily="18" charset="0"/>
              </a:rPr>
              <a:t>Hunters</a:t>
            </a:r>
          </a:p>
        </p:txBody>
      </p:sp>
    </p:spTree>
    <p:extLst>
      <p:ext uri="{BB962C8B-B14F-4D97-AF65-F5344CB8AC3E}">
        <p14:creationId xmlns:p14="http://schemas.microsoft.com/office/powerpoint/2010/main" val="3753387913"/>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9F35C-6D6D-A0B5-F24C-B631AE6B2A8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4E7F8F20-62AE-ECC5-C1EF-74FB94994836}"/>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a:extLst>
              <a:ext uri="{FF2B5EF4-FFF2-40B4-BE49-F238E27FC236}">
                <a16:creationId xmlns:a16="http://schemas.microsoft.com/office/drawing/2014/main" id="{AB22DC17-6C6F-F536-589A-73080D096575}"/>
              </a:ext>
            </a:extLst>
          </p:cNvPr>
          <p:cNvSpPr>
            <a:spLocks noGrp="1"/>
          </p:cNvSpPr>
          <p:nvPr>
            <p:ph type="title"/>
          </p:nvPr>
        </p:nvSpPr>
        <p:spPr>
          <a:xfrm>
            <a:off x="619432" y="-231713"/>
            <a:ext cx="10972800" cy="1143000"/>
          </a:xfrm>
        </p:spPr>
        <p:txBody>
          <a:bodyPr/>
          <a:lstStyle/>
          <a:p>
            <a:pPr eaLnBrk="1" hangingPunct="1"/>
            <a:r>
              <a:rPr lang="en-US" sz="3600" b="1" dirty="0">
                <a:latin typeface="+mj-lt"/>
                <a:ea typeface="ＭＳ Ｐゴシック" pitchFamily="1" charset="-128"/>
                <a:cs typeface="Times New Roman" panose="02020603050405020304" pitchFamily="18" charset="0"/>
              </a:rPr>
              <a:t>IMPACT AND BENEFITS</a:t>
            </a:r>
          </a:p>
        </p:txBody>
      </p:sp>
      <p:sp>
        <p:nvSpPr>
          <p:cNvPr id="6" name="Slide Number Placeholder 5">
            <a:extLst>
              <a:ext uri="{FF2B5EF4-FFF2-40B4-BE49-F238E27FC236}">
                <a16:creationId xmlns:a16="http://schemas.microsoft.com/office/drawing/2014/main" id="{D5D4F7EA-A34C-9EDA-24C6-3A03724C6B6F}"/>
              </a:ext>
            </a:extLst>
          </p:cNvPr>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a:extLst>
              <a:ext uri="{FF2B5EF4-FFF2-40B4-BE49-F238E27FC236}">
                <a16:creationId xmlns:a16="http://schemas.microsoft.com/office/drawing/2014/main" id="{647A2916-C9C5-BA32-040D-064D4968DF0D}"/>
              </a:ext>
            </a:extLst>
          </p:cNvPr>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radeGothic"/>
                <a:ea typeface="+mn-ea"/>
                <a:cs typeface="+mn-cs"/>
              </a:rPr>
              <a:t>@SIH Idea submission- Template</a:t>
            </a:r>
          </a:p>
        </p:txBody>
      </p:sp>
      <p:pic>
        <p:nvPicPr>
          <p:cNvPr id="11" name="Picture 10">
            <a:extLst>
              <a:ext uri="{FF2B5EF4-FFF2-40B4-BE49-F238E27FC236}">
                <a16:creationId xmlns:a16="http://schemas.microsoft.com/office/drawing/2014/main" id="{F1AAAD73-71FB-A3AA-9E80-B13EE6CB7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9543" y="0"/>
            <a:ext cx="1620000" cy="764933"/>
          </a:xfrm>
          <a:prstGeom prst="rect">
            <a:avLst/>
          </a:prstGeom>
        </p:spPr>
      </p:pic>
      <p:grpSp>
        <p:nvGrpSpPr>
          <p:cNvPr id="2" name="Group 1">
            <a:extLst>
              <a:ext uri="{FF2B5EF4-FFF2-40B4-BE49-F238E27FC236}">
                <a16:creationId xmlns:a16="http://schemas.microsoft.com/office/drawing/2014/main" id="{EA9E56E5-239F-68E4-42D1-572B069412B8}"/>
              </a:ext>
            </a:extLst>
          </p:cNvPr>
          <p:cNvGrpSpPr/>
          <p:nvPr/>
        </p:nvGrpSpPr>
        <p:grpSpPr>
          <a:xfrm>
            <a:off x="-302640" y="901627"/>
            <a:ext cx="4571366" cy="369861"/>
            <a:chOff x="1459567" y="-162041"/>
            <a:chExt cx="1864356" cy="342085"/>
          </a:xfrm>
        </p:grpSpPr>
        <p:sp>
          <p:nvSpPr>
            <p:cNvPr id="3" name="Rectangle: Rounded Corners 2">
              <a:extLst>
                <a:ext uri="{FF2B5EF4-FFF2-40B4-BE49-F238E27FC236}">
                  <a16:creationId xmlns:a16="http://schemas.microsoft.com/office/drawing/2014/main" id="{DA86F98A-633B-6B89-A1C7-1DE3EBAC5BCE}"/>
                </a:ext>
              </a:extLst>
            </p:cNvPr>
            <p:cNvSpPr/>
            <p:nvPr/>
          </p:nvSpPr>
          <p:spPr>
            <a:xfrm>
              <a:off x="1665494" y="-162041"/>
              <a:ext cx="1452502" cy="318116"/>
            </a:xfrm>
            <a:prstGeom prst="roundRect">
              <a:avLst/>
            </a:prstGeom>
            <a:solidFill>
              <a:schemeClr val="tx2">
                <a:lumMod val="40000"/>
                <a:lumOff val="6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4" name="TextBox 3">
              <a:extLst>
                <a:ext uri="{FF2B5EF4-FFF2-40B4-BE49-F238E27FC236}">
                  <a16:creationId xmlns:a16="http://schemas.microsoft.com/office/drawing/2014/main" id="{F056F9B7-8C9A-5CF8-D84A-3FBAD5147C75}"/>
                </a:ext>
              </a:extLst>
            </p:cNvPr>
            <p:cNvSpPr txBox="1"/>
            <p:nvPr/>
          </p:nvSpPr>
          <p:spPr>
            <a:xfrm>
              <a:off x="1459567" y="-161552"/>
              <a:ext cx="1864356" cy="341596"/>
            </a:xfrm>
            <a:prstGeom prst="rect">
              <a:avLst/>
            </a:prstGeom>
            <a:noFill/>
          </p:spPr>
          <p:txBody>
            <a:bodyPr wrap="square" rtlCol="0">
              <a:spAutoFit/>
            </a:bodyPr>
            <a:lstStyle/>
            <a:p>
              <a:pPr algn="ctr"/>
              <a:r>
                <a:rPr lang="en-IN" b="1" dirty="0">
                  <a:latin typeface="+mj-lt"/>
                </a:rPr>
                <a:t>Direct Impact on Target Users : </a:t>
              </a:r>
            </a:p>
          </p:txBody>
        </p:sp>
      </p:grpSp>
      <p:sp>
        <p:nvSpPr>
          <p:cNvPr id="13" name="TextBox 12">
            <a:extLst>
              <a:ext uri="{FF2B5EF4-FFF2-40B4-BE49-F238E27FC236}">
                <a16:creationId xmlns:a16="http://schemas.microsoft.com/office/drawing/2014/main" id="{2B9116EF-3BA6-BD79-33CA-11A665EBF693}"/>
              </a:ext>
            </a:extLst>
          </p:cNvPr>
          <p:cNvSpPr txBox="1"/>
          <p:nvPr/>
        </p:nvSpPr>
        <p:spPr>
          <a:xfrm>
            <a:off x="162626" y="1378267"/>
            <a:ext cx="3907929" cy="2009061"/>
          </a:xfrm>
          <a:prstGeom prst="roundRect">
            <a:avLst/>
          </a:prstGeom>
          <a:solidFill>
            <a:schemeClr val="accent4">
              <a:lumMod val="20000"/>
              <a:lumOff val="80000"/>
            </a:schemeClr>
          </a:solidFill>
          <a:ln w="3175">
            <a:solidFill>
              <a:schemeClr val="accent4"/>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sz="1600" b="1" dirty="0">
                <a:solidFill>
                  <a:schemeClr val="accent4">
                    <a:lumMod val="75000"/>
                  </a:schemeClr>
                </a:solidFill>
              </a:rPr>
              <a:t>Student-Level Impact</a:t>
            </a:r>
          </a:p>
          <a:p>
            <a:pPr marL="171450" lvl="0" indent="-171450">
              <a:buFont typeface="Arial" panose="020B0604020202020204" pitchFamily="34" charset="0"/>
              <a:buChar char="•"/>
            </a:pPr>
            <a:r>
              <a:rPr lang="en-IN" sz="1200" b="1" dirty="0"/>
              <a:t>Know Before You Apply:</a:t>
            </a:r>
            <a:r>
              <a:rPr lang="en-IN" sz="1200" dirty="0"/>
              <a:t> Students see their readiness for the </a:t>
            </a:r>
            <a:r>
              <a:rPr lang="en-IN" sz="1200" i="1" dirty="0"/>
              <a:t>specific role</a:t>
            </a:r>
            <a:r>
              <a:rPr lang="en-IN" sz="1200" dirty="0"/>
              <a:t> instead of blindly applying. </a:t>
            </a:r>
          </a:p>
          <a:p>
            <a:pPr marL="171450" lvl="0" indent="-171450">
              <a:buFont typeface="Arial" panose="020B0604020202020204" pitchFamily="34" charset="0"/>
              <a:buChar char="•"/>
            </a:pPr>
            <a:r>
              <a:rPr lang="en-IN" sz="1200" b="1" dirty="0"/>
              <a:t>Actionable Skill Gaps:</a:t>
            </a:r>
            <a:r>
              <a:rPr lang="en-IN" sz="1200" dirty="0"/>
              <a:t> Identifies exactly which required skills are missing or weak. </a:t>
            </a:r>
          </a:p>
          <a:p>
            <a:pPr marL="171450" lvl="0" indent="-171450">
              <a:buFont typeface="Arial" panose="020B0604020202020204" pitchFamily="34" charset="0"/>
              <a:buChar char="•"/>
            </a:pPr>
            <a:r>
              <a:rPr lang="en-IN" sz="1200" b="1" dirty="0"/>
              <a:t>Personalized Upskilling:</a:t>
            </a:r>
            <a:r>
              <a:rPr lang="en-IN" sz="1200" dirty="0"/>
              <a:t> Recommends resources specifically for those gaps. </a:t>
            </a:r>
          </a:p>
          <a:p>
            <a:pPr marL="171450" lvl="0" indent="-171450">
              <a:buFont typeface="Arial" panose="020B0604020202020204" pitchFamily="34" charset="0"/>
              <a:buChar char="•"/>
            </a:pPr>
            <a:r>
              <a:rPr lang="en-IN" sz="1200" b="1" dirty="0"/>
              <a:t>Higher Readiness:</a:t>
            </a:r>
            <a:r>
              <a:rPr lang="en-IN" sz="1200" dirty="0"/>
              <a:t> Students can </a:t>
            </a:r>
            <a:r>
              <a:rPr lang="en-IN" sz="1200" b="1" dirty="0"/>
              <a:t>learn → reassess → apply</a:t>
            </a:r>
            <a:r>
              <a:rPr lang="en-IN" sz="1200" dirty="0"/>
              <a:t> with improved confidence.</a:t>
            </a:r>
          </a:p>
        </p:txBody>
      </p:sp>
      <p:sp>
        <p:nvSpPr>
          <p:cNvPr id="15" name="TextBox 14">
            <a:extLst>
              <a:ext uri="{FF2B5EF4-FFF2-40B4-BE49-F238E27FC236}">
                <a16:creationId xmlns:a16="http://schemas.microsoft.com/office/drawing/2014/main" id="{137CB202-5244-B33C-D52E-F037D625769D}"/>
              </a:ext>
            </a:extLst>
          </p:cNvPr>
          <p:cNvSpPr txBox="1"/>
          <p:nvPr/>
        </p:nvSpPr>
        <p:spPr>
          <a:xfrm>
            <a:off x="204596" y="3551688"/>
            <a:ext cx="3865959" cy="2621994"/>
          </a:xfrm>
          <a:prstGeom prst="roundRect">
            <a:avLst/>
          </a:prstGeom>
          <a:solidFill>
            <a:schemeClr val="accent6">
              <a:lumMod val="20000"/>
              <a:lumOff val="80000"/>
            </a:schemeClr>
          </a:solidFill>
          <a:ln w="3175">
            <a:solidFill>
              <a:schemeClr val="accent6"/>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IN" sz="1600" b="1">
                <a:solidFill>
                  <a:srgbClr val="FF0000"/>
                </a:solidFill>
              </a:rPr>
              <a:t>Industry &amp; Institutional Impact</a:t>
            </a:r>
          </a:p>
          <a:p>
            <a:pPr marL="171450" lvl="0" indent="-171450">
              <a:buFont typeface="Arial" panose="020B0604020202020204" pitchFamily="34" charset="0"/>
              <a:buChar char="•"/>
            </a:pPr>
            <a:r>
              <a:rPr lang="en-IN" sz="1200" b="1"/>
              <a:t>Better Skill–Job Fit:</a:t>
            </a:r>
            <a:r>
              <a:rPr lang="en-IN" sz="1200"/>
              <a:t> Recruiters discover candidates based on role-relevant skills. </a:t>
            </a:r>
          </a:p>
          <a:p>
            <a:pPr marL="171450" lvl="0" indent="-171450">
              <a:buFont typeface="Arial" panose="020B0604020202020204" pitchFamily="34" charset="0"/>
              <a:buChar char="•"/>
            </a:pPr>
            <a:r>
              <a:rPr lang="en-IN" sz="1200" b="1"/>
              <a:t>Targeted Training:</a:t>
            </a:r>
            <a:r>
              <a:rPr lang="en-IN" sz="1200"/>
              <a:t> Colleges can identify common skill gaps and address them before placement season. </a:t>
            </a:r>
          </a:p>
          <a:p>
            <a:pPr marL="171450" lvl="0" indent="-171450">
              <a:buFont typeface="Arial" panose="020B0604020202020204" pitchFamily="34" charset="0"/>
              <a:buChar char="•"/>
            </a:pPr>
            <a:r>
              <a:rPr lang="en-IN" sz="1200" b="1"/>
              <a:t>Reduced Blind Applications:</a:t>
            </a:r>
            <a:r>
              <a:rPr lang="en-IN" sz="1200"/>
              <a:t> Students are guided toward opportunities aligned with their current readiness. </a:t>
            </a:r>
          </a:p>
          <a:p>
            <a:pPr marL="171450" lvl="0" indent="-171450">
              <a:buFont typeface="Arial" panose="020B0604020202020204" pitchFamily="34" charset="0"/>
              <a:buChar char="•"/>
            </a:pPr>
            <a:r>
              <a:rPr lang="en-IN" sz="1200" b="1"/>
              <a:t>Stronger Academia–Industry Alignment:</a:t>
            </a:r>
            <a:r>
              <a:rPr lang="en-IN" sz="1200"/>
              <a:t> Industry requirements directly influence student development.</a:t>
            </a:r>
            <a:endParaRPr lang="en-IN" sz="1200" dirty="0"/>
          </a:p>
        </p:txBody>
      </p:sp>
      <p:sp>
        <p:nvSpPr>
          <p:cNvPr id="18" name="TextBox 17">
            <a:extLst>
              <a:ext uri="{FF2B5EF4-FFF2-40B4-BE49-F238E27FC236}">
                <a16:creationId xmlns:a16="http://schemas.microsoft.com/office/drawing/2014/main" id="{F56F473B-5DB3-5506-7A97-775A032E5C91}"/>
              </a:ext>
            </a:extLst>
          </p:cNvPr>
          <p:cNvSpPr txBox="1"/>
          <p:nvPr/>
        </p:nvSpPr>
        <p:spPr>
          <a:xfrm>
            <a:off x="4201797" y="756852"/>
            <a:ext cx="4316361" cy="2009061"/>
          </a:xfrm>
          <a:prstGeom prst="roundRect">
            <a:avLst/>
          </a:prstGeom>
          <a:solidFill>
            <a:schemeClr val="accent5">
              <a:lumMod val="20000"/>
              <a:lumOff val="80000"/>
            </a:schemeClr>
          </a:solidFill>
          <a:ln>
            <a:solidFill>
              <a:schemeClr val="accent5"/>
            </a:solidFill>
          </a:ln>
        </p:spPr>
        <p:txBody>
          <a:bodyPr wrap="square" rtlCol="0">
            <a:spAutoFit/>
          </a:bodyPr>
          <a:lstStyle/>
          <a:p>
            <a:r>
              <a:rPr lang="en-IN" sz="1600" b="1" dirty="0">
                <a:solidFill>
                  <a:srgbClr val="0070C0"/>
                </a:solidFill>
              </a:rPr>
              <a:t>Intelligent Career Impact</a:t>
            </a:r>
          </a:p>
          <a:p>
            <a:pPr marL="171450" lvl="0" indent="-171450">
              <a:buFont typeface="Arial" panose="020B0604020202020204" pitchFamily="34" charset="0"/>
              <a:buChar char="•"/>
            </a:pPr>
            <a:r>
              <a:rPr lang="en-IN" sz="1200" b="1" dirty="0"/>
              <a:t>Role-Based Intelligence:</a:t>
            </a:r>
            <a:r>
              <a:rPr lang="en-IN" sz="1200" dirty="0"/>
              <a:t> Every opportunity creates a personalized readiness analysis. </a:t>
            </a:r>
          </a:p>
          <a:p>
            <a:pPr marL="171450" lvl="0" indent="-171450">
              <a:buFont typeface="Arial" panose="020B0604020202020204" pitchFamily="34" charset="0"/>
              <a:buChar char="•"/>
            </a:pPr>
            <a:r>
              <a:rPr lang="en-IN" sz="1200" b="1" dirty="0"/>
              <a:t>Dynamic Recommendations:</a:t>
            </a:r>
            <a:r>
              <a:rPr lang="en-IN" sz="1200" dirty="0"/>
              <a:t> Learning suggestions change according to the student's target role. </a:t>
            </a:r>
          </a:p>
          <a:p>
            <a:pPr marL="171450" lvl="0" indent="-171450">
              <a:buFont typeface="Arial" panose="020B0604020202020204" pitchFamily="34" charset="0"/>
              <a:buChar char="•"/>
            </a:pPr>
            <a:r>
              <a:rPr lang="en-IN" sz="1200" b="1" dirty="0"/>
              <a:t>Continuous Skill Evolution:</a:t>
            </a:r>
            <a:r>
              <a:rPr lang="en-IN" sz="1200" dirty="0"/>
              <a:t> Student profiles evolve as they learn, certify, build projects, and gain experience. </a:t>
            </a:r>
          </a:p>
          <a:p>
            <a:pPr marL="171450" lvl="0" indent="-171450">
              <a:buFont typeface="Arial" panose="020B0604020202020204" pitchFamily="34" charset="0"/>
              <a:buChar char="•"/>
            </a:pPr>
            <a:r>
              <a:rPr lang="en-IN" sz="1200" b="1" dirty="0"/>
              <a:t>Evidence-Based Profile:</a:t>
            </a:r>
            <a:r>
              <a:rPr lang="en-IN" sz="1200" dirty="0"/>
              <a:t> Skills can be supported through assessments, certifications, projects, and internships.</a:t>
            </a:r>
          </a:p>
        </p:txBody>
      </p:sp>
      <p:sp>
        <p:nvSpPr>
          <p:cNvPr id="19" name="TextBox 18">
            <a:extLst>
              <a:ext uri="{FF2B5EF4-FFF2-40B4-BE49-F238E27FC236}">
                <a16:creationId xmlns:a16="http://schemas.microsoft.com/office/drawing/2014/main" id="{FD8D0BA8-E23E-59CB-3E48-4CCC3D7B265D}"/>
              </a:ext>
            </a:extLst>
          </p:cNvPr>
          <p:cNvSpPr txBox="1"/>
          <p:nvPr/>
        </p:nvSpPr>
        <p:spPr>
          <a:xfrm>
            <a:off x="5640925" y="5682178"/>
            <a:ext cx="4875167" cy="510778"/>
          </a:xfrm>
          <a:prstGeom prst="roundRect">
            <a:avLst/>
          </a:prstGeom>
          <a:solidFill>
            <a:schemeClr val="accent2">
              <a:lumMod val="20000"/>
              <a:lumOff val="80000"/>
            </a:schemeClr>
          </a:solidFill>
          <a:ln>
            <a:solidFill>
              <a:schemeClr val="accent2"/>
            </a:solidFill>
          </a:ln>
        </p:spPr>
        <p:txBody>
          <a:bodyPr wrap="square" rtlCol="0">
            <a:spAutoFit/>
          </a:bodyPr>
          <a:lstStyle/>
          <a:p>
            <a:pPr algn="ctr"/>
            <a:r>
              <a:rPr lang="en-IN" sz="1200" b="1" dirty="0"/>
              <a:t>From “Why was I rejected?” to “Here’s exactly what I need to improve.”</a:t>
            </a:r>
          </a:p>
          <a:p>
            <a:pPr algn="ctr"/>
            <a:r>
              <a:rPr lang="en-IN" sz="1200" b="1" dirty="0">
                <a:solidFill>
                  <a:srgbClr val="FF0000"/>
                </a:solidFill>
              </a:rPr>
              <a:t>Assess → Role Match → Find Gap → Learn → Reassess → Apply</a:t>
            </a:r>
          </a:p>
        </p:txBody>
      </p:sp>
      <p:pic>
        <p:nvPicPr>
          <p:cNvPr id="21" name="Picture 20">
            <a:extLst>
              <a:ext uri="{FF2B5EF4-FFF2-40B4-BE49-F238E27FC236}">
                <a16:creationId xmlns:a16="http://schemas.microsoft.com/office/drawing/2014/main" id="{A305B320-BA91-1631-122D-BB07B621F33F}"/>
              </a:ext>
            </a:extLst>
          </p:cNvPr>
          <p:cNvPicPr>
            <a:picLocks noGrp="1" noRot="1" noChangeAspect="1" noMove="1" noResize="1" noEditPoints="1" noAdjustHandles="1" noChangeArrowheads="1" noChangeShapeType="1" noCrop="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8270349" y="536970"/>
            <a:ext cx="4258387" cy="2324647"/>
          </a:xfrm>
          <a:prstGeom prst="rect">
            <a:avLst/>
          </a:prstGeom>
        </p:spPr>
      </p:pic>
      <p:grpSp>
        <p:nvGrpSpPr>
          <p:cNvPr id="17556" name="Group 17555">
            <a:extLst>
              <a:ext uri="{FF2B5EF4-FFF2-40B4-BE49-F238E27FC236}">
                <a16:creationId xmlns:a16="http://schemas.microsoft.com/office/drawing/2014/main" id="{F2ACEE3E-3AD8-6954-7623-47D714B610B9}"/>
              </a:ext>
            </a:extLst>
          </p:cNvPr>
          <p:cNvGrpSpPr/>
          <p:nvPr/>
        </p:nvGrpSpPr>
        <p:grpSpPr>
          <a:xfrm>
            <a:off x="4230923" y="2861617"/>
            <a:ext cx="7666109" cy="2986590"/>
            <a:chOff x="292608" y="1630342"/>
            <a:chExt cx="11576303" cy="4714672"/>
          </a:xfrm>
        </p:grpSpPr>
        <p:sp>
          <p:nvSpPr>
            <p:cNvPr id="17" name="Rectangle 16">
              <a:extLst>
                <a:ext uri="{FF2B5EF4-FFF2-40B4-BE49-F238E27FC236}">
                  <a16:creationId xmlns:a16="http://schemas.microsoft.com/office/drawing/2014/main" id="{7CA10DAB-DA29-3C49-FA6B-373547A1158B}"/>
                </a:ext>
              </a:extLst>
            </p:cNvPr>
            <p:cNvSpPr/>
            <p:nvPr/>
          </p:nvSpPr>
          <p:spPr>
            <a:xfrm>
              <a:off x="292608" y="1673352"/>
              <a:ext cx="1965960" cy="530352"/>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22" name="TextBox 21">
              <a:extLst>
                <a:ext uri="{FF2B5EF4-FFF2-40B4-BE49-F238E27FC236}">
                  <a16:creationId xmlns:a16="http://schemas.microsoft.com/office/drawing/2014/main" id="{BF51B746-9E09-0985-30B0-C56829E263F2}"/>
                </a:ext>
              </a:extLst>
            </p:cNvPr>
            <p:cNvSpPr txBox="1"/>
            <p:nvPr/>
          </p:nvSpPr>
          <p:spPr>
            <a:xfrm>
              <a:off x="347472" y="1630342"/>
              <a:ext cx="1837945" cy="534446"/>
            </a:xfrm>
            <a:prstGeom prst="rect">
              <a:avLst/>
            </a:prstGeom>
            <a:noFill/>
          </p:spPr>
          <p:txBody>
            <a:bodyPr wrap="square" anchor="ctr">
              <a:spAutoFit/>
            </a:bodyPr>
            <a:lstStyle/>
            <a:p>
              <a:pPr algn="ctr"/>
              <a:r>
                <a:rPr sz="800" b="1" dirty="0">
                  <a:solidFill>
                    <a:srgbClr val="192C34"/>
                  </a:solidFill>
                  <a:latin typeface="+mj-lt"/>
                </a:rPr>
                <a:t>WHAT STUDENTS
ACTUALLY CARE ABOUT</a:t>
              </a:r>
            </a:p>
          </p:txBody>
        </p:sp>
        <p:sp>
          <p:nvSpPr>
            <p:cNvPr id="24" name="Rounded Rectangle 10">
              <a:extLst>
                <a:ext uri="{FF2B5EF4-FFF2-40B4-BE49-F238E27FC236}">
                  <a16:creationId xmlns:a16="http://schemas.microsoft.com/office/drawing/2014/main" id="{3F38FADF-3396-AF9C-F161-078FC8639AE8}"/>
                </a:ext>
              </a:extLst>
            </p:cNvPr>
            <p:cNvSpPr/>
            <p:nvPr/>
          </p:nvSpPr>
          <p:spPr>
            <a:xfrm>
              <a:off x="2304287" y="1673352"/>
              <a:ext cx="1876348" cy="530352"/>
            </a:xfrm>
            <a:prstGeom prst="round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26" name="TextBox 25">
              <a:extLst>
                <a:ext uri="{FF2B5EF4-FFF2-40B4-BE49-F238E27FC236}">
                  <a16:creationId xmlns:a16="http://schemas.microsoft.com/office/drawing/2014/main" id="{1322F65D-AA88-57A0-659B-15652C026CA2}"/>
                </a:ext>
              </a:extLst>
            </p:cNvPr>
            <p:cNvSpPr txBox="1"/>
            <p:nvPr/>
          </p:nvSpPr>
          <p:spPr>
            <a:xfrm>
              <a:off x="2331718" y="1668637"/>
              <a:ext cx="1821485" cy="521492"/>
            </a:xfrm>
            <a:prstGeom prst="rect">
              <a:avLst/>
            </a:prstGeom>
            <a:noFill/>
          </p:spPr>
          <p:txBody>
            <a:bodyPr wrap="square" anchor="ctr">
              <a:spAutoFit/>
            </a:bodyPr>
            <a:lstStyle/>
            <a:p>
              <a:pPr algn="ctr"/>
              <a:r>
                <a:rPr sz="800" b="1">
                  <a:solidFill>
                    <a:srgbClr val="192C34"/>
                  </a:solidFill>
                  <a:latin typeface="+mj-lt"/>
                </a:rPr>
                <a:t>SKILL SETU</a:t>
              </a:r>
            </a:p>
          </p:txBody>
        </p:sp>
        <p:sp>
          <p:nvSpPr>
            <p:cNvPr id="28" name="Rounded Rectangle 12">
              <a:extLst>
                <a:ext uri="{FF2B5EF4-FFF2-40B4-BE49-F238E27FC236}">
                  <a16:creationId xmlns:a16="http://schemas.microsoft.com/office/drawing/2014/main" id="{FDA4577C-72DC-DBFE-6588-BA20DD972D83}"/>
                </a:ext>
              </a:extLst>
            </p:cNvPr>
            <p:cNvSpPr/>
            <p:nvPr/>
          </p:nvSpPr>
          <p:spPr>
            <a:xfrm>
              <a:off x="4226356" y="1673352"/>
              <a:ext cx="1876348" cy="530352"/>
            </a:xfrm>
            <a:prstGeom prst="roundRect">
              <a:avLst/>
            </a:prstGeom>
            <a:solidFill>
              <a:srgbClr val="E1EFF9"/>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30" name="TextBox 29">
              <a:extLst>
                <a:ext uri="{FF2B5EF4-FFF2-40B4-BE49-F238E27FC236}">
                  <a16:creationId xmlns:a16="http://schemas.microsoft.com/office/drawing/2014/main" id="{353951B0-BE30-7A1F-7662-5413A4374B5D}"/>
                </a:ext>
              </a:extLst>
            </p:cNvPr>
            <p:cNvSpPr txBox="1"/>
            <p:nvPr/>
          </p:nvSpPr>
          <p:spPr>
            <a:xfrm>
              <a:off x="4253788" y="1668637"/>
              <a:ext cx="1821485" cy="521492"/>
            </a:xfrm>
            <a:prstGeom prst="rect">
              <a:avLst/>
            </a:prstGeom>
            <a:noFill/>
          </p:spPr>
          <p:txBody>
            <a:bodyPr wrap="square" anchor="ctr">
              <a:spAutoFit/>
            </a:bodyPr>
            <a:lstStyle/>
            <a:p>
              <a:pPr algn="ctr"/>
              <a:r>
                <a:rPr sz="800" b="1">
                  <a:solidFill>
                    <a:srgbClr val="5C6970"/>
                  </a:solidFill>
                  <a:latin typeface="+mj-lt"/>
                </a:rPr>
                <a:t>LinkedIn</a:t>
              </a:r>
            </a:p>
          </p:txBody>
        </p:sp>
        <p:sp>
          <p:nvSpPr>
            <p:cNvPr id="32" name="Rounded Rectangle 14">
              <a:extLst>
                <a:ext uri="{FF2B5EF4-FFF2-40B4-BE49-F238E27FC236}">
                  <a16:creationId xmlns:a16="http://schemas.microsoft.com/office/drawing/2014/main" id="{17587C22-E587-FD70-E4AB-1CD6D957DB26}"/>
                </a:ext>
              </a:extLst>
            </p:cNvPr>
            <p:cNvSpPr/>
            <p:nvPr/>
          </p:nvSpPr>
          <p:spPr>
            <a:xfrm>
              <a:off x="6148425" y="1673352"/>
              <a:ext cx="1876348" cy="530352"/>
            </a:xfrm>
            <a:prstGeom prst="roundRect">
              <a:avLst/>
            </a:prstGeom>
            <a:solidFill>
              <a:srgbClr val="F4DDDD"/>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34" name="TextBox 33">
              <a:extLst>
                <a:ext uri="{FF2B5EF4-FFF2-40B4-BE49-F238E27FC236}">
                  <a16:creationId xmlns:a16="http://schemas.microsoft.com/office/drawing/2014/main" id="{8DFC850A-1FEA-987A-A668-C67EF24FE31C}"/>
                </a:ext>
              </a:extLst>
            </p:cNvPr>
            <p:cNvSpPr txBox="1"/>
            <p:nvPr/>
          </p:nvSpPr>
          <p:spPr>
            <a:xfrm>
              <a:off x="6175857" y="1668637"/>
              <a:ext cx="1821485" cy="521492"/>
            </a:xfrm>
            <a:prstGeom prst="rect">
              <a:avLst/>
            </a:prstGeom>
            <a:noFill/>
          </p:spPr>
          <p:txBody>
            <a:bodyPr wrap="square" anchor="ctr">
              <a:spAutoFit/>
            </a:bodyPr>
            <a:lstStyle/>
            <a:p>
              <a:pPr algn="ctr"/>
              <a:r>
                <a:rPr sz="800" b="1">
                  <a:solidFill>
                    <a:srgbClr val="5C6970"/>
                  </a:solidFill>
                  <a:latin typeface="+mj-lt"/>
                </a:rPr>
                <a:t>Naukri</a:t>
              </a:r>
            </a:p>
          </p:txBody>
        </p:sp>
        <p:sp>
          <p:nvSpPr>
            <p:cNvPr id="36" name="Rounded Rectangle 16">
              <a:extLst>
                <a:ext uri="{FF2B5EF4-FFF2-40B4-BE49-F238E27FC236}">
                  <a16:creationId xmlns:a16="http://schemas.microsoft.com/office/drawing/2014/main" id="{5518CC19-0C67-252B-82D0-CAAFCF4AFEE6}"/>
                </a:ext>
              </a:extLst>
            </p:cNvPr>
            <p:cNvSpPr/>
            <p:nvPr/>
          </p:nvSpPr>
          <p:spPr>
            <a:xfrm>
              <a:off x="8070494" y="1673352"/>
              <a:ext cx="1876348" cy="530352"/>
            </a:xfrm>
            <a:prstGeom prst="roundRect">
              <a:avLst/>
            </a:prstGeom>
            <a:solidFill>
              <a:srgbClr val="EBE8F2"/>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38" name="TextBox 37">
              <a:extLst>
                <a:ext uri="{FF2B5EF4-FFF2-40B4-BE49-F238E27FC236}">
                  <a16:creationId xmlns:a16="http://schemas.microsoft.com/office/drawing/2014/main" id="{C6A250D2-73C5-6397-DA87-B8E0959B2927}"/>
                </a:ext>
              </a:extLst>
            </p:cNvPr>
            <p:cNvSpPr txBox="1"/>
            <p:nvPr/>
          </p:nvSpPr>
          <p:spPr>
            <a:xfrm>
              <a:off x="8097927" y="1668637"/>
              <a:ext cx="1821485" cy="521492"/>
            </a:xfrm>
            <a:prstGeom prst="rect">
              <a:avLst/>
            </a:prstGeom>
            <a:noFill/>
          </p:spPr>
          <p:txBody>
            <a:bodyPr wrap="square" anchor="ctr">
              <a:spAutoFit/>
            </a:bodyPr>
            <a:lstStyle/>
            <a:p>
              <a:pPr algn="ctr"/>
              <a:r>
                <a:rPr sz="800" b="1">
                  <a:solidFill>
                    <a:srgbClr val="5C6970"/>
                  </a:solidFill>
                  <a:latin typeface="+mj-lt"/>
                </a:rPr>
                <a:t>Coursera</a:t>
              </a:r>
            </a:p>
          </p:txBody>
        </p:sp>
        <p:sp>
          <p:nvSpPr>
            <p:cNvPr id="40" name="Rounded Rectangle 18">
              <a:extLst>
                <a:ext uri="{FF2B5EF4-FFF2-40B4-BE49-F238E27FC236}">
                  <a16:creationId xmlns:a16="http://schemas.microsoft.com/office/drawing/2014/main" id="{1DCFC8C1-5619-87C7-8D79-AE35F079DA94}"/>
                </a:ext>
              </a:extLst>
            </p:cNvPr>
            <p:cNvSpPr/>
            <p:nvPr/>
          </p:nvSpPr>
          <p:spPr>
            <a:xfrm>
              <a:off x="9992563" y="1673352"/>
              <a:ext cx="1876348" cy="530352"/>
            </a:xfrm>
            <a:prstGeom prst="roundRect">
              <a:avLst/>
            </a:prstGeom>
            <a:solidFill>
              <a:srgbClr val="FAEBDD"/>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42" name="TextBox 41">
              <a:extLst>
                <a:ext uri="{FF2B5EF4-FFF2-40B4-BE49-F238E27FC236}">
                  <a16:creationId xmlns:a16="http://schemas.microsoft.com/office/drawing/2014/main" id="{527C3271-E7D2-7AD0-9AB8-BBDD63A2808A}"/>
                </a:ext>
              </a:extLst>
            </p:cNvPr>
            <p:cNvSpPr txBox="1"/>
            <p:nvPr/>
          </p:nvSpPr>
          <p:spPr>
            <a:xfrm>
              <a:off x="10019994" y="1668637"/>
              <a:ext cx="1821485" cy="521492"/>
            </a:xfrm>
            <a:prstGeom prst="rect">
              <a:avLst/>
            </a:prstGeom>
            <a:noFill/>
          </p:spPr>
          <p:txBody>
            <a:bodyPr wrap="square" anchor="ctr">
              <a:spAutoFit/>
            </a:bodyPr>
            <a:lstStyle/>
            <a:p>
              <a:pPr algn="ctr"/>
              <a:r>
                <a:rPr sz="800" b="1">
                  <a:solidFill>
                    <a:srgbClr val="5C6970"/>
                  </a:solidFill>
                  <a:latin typeface="+mj-lt"/>
                </a:rPr>
                <a:t>Internshala</a:t>
              </a:r>
            </a:p>
          </p:txBody>
        </p:sp>
        <p:sp>
          <p:nvSpPr>
            <p:cNvPr id="44" name="Rectangle 43">
              <a:extLst>
                <a:ext uri="{FF2B5EF4-FFF2-40B4-BE49-F238E27FC236}">
                  <a16:creationId xmlns:a16="http://schemas.microsoft.com/office/drawing/2014/main" id="{1283A040-85EF-6DAF-3FF3-F09EAE37FDF1}"/>
                </a:ext>
              </a:extLst>
            </p:cNvPr>
            <p:cNvSpPr/>
            <p:nvPr/>
          </p:nvSpPr>
          <p:spPr>
            <a:xfrm>
              <a:off x="292608" y="2267712"/>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46" name="TextBox 45">
              <a:extLst>
                <a:ext uri="{FF2B5EF4-FFF2-40B4-BE49-F238E27FC236}">
                  <a16:creationId xmlns:a16="http://schemas.microsoft.com/office/drawing/2014/main" id="{273D9527-EFF6-4EBD-59C5-8F694B467F81}"/>
                </a:ext>
              </a:extLst>
            </p:cNvPr>
            <p:cNvSpPr txBox="1"/>
            <p:nvPr/>
          </p:nvSpPr>
          <p:spPr>
            <a:xfrm>
              <a:off x="365761" y="2100286"/>
              <a:ext cx="1819655" cy="819486"/>
            </a:xfrm>
            <a:prstGeom prst="rect">
              <a:avLst/>
            </a:prstGeom>
            <a:noFill/>
          </p:spPr>
          <p:txBody>
            <a:bodyPr wrap="square" anchor="ctr">
              <a:spAutoFit/>
            </a:bodyPr>
            <a:lstStyle/>
            <a:p>
              <a:pPr algn="l"/>
              <a:r>
                <a:rPr sz="800" b="1" dirty="0">
                  <a:solidFill>
                    <a:srgbClr val="192C34"/>
                  </a:solidFill>
                  <a:latin typeface="+mj-lt"/>
                </a:rPr>
                <a:t>Who is it really for?</a:t>
              </a:r>
            </a:p>
          </p:txBody>
        </p:sp>
        <p:sp>
          <p:nvSpPr>
            <p:cNvPr id="48" name="Rectangle 47">
              <a:extLst>
                <a:ext uri="{FF2B5EF4-FFF2-40B4-BE49-F238E27FC236}">
                  <a16:creationId xmlns:a16="http://schemas.microsoft.com/office/drawing/2014/main" id="{A5D4D6A2-9CE5-D700-2096-2FF272B381F2}"/>
                </a:ext>
              </a:extLst>
            </p:cNvPr>
            <p:cNvSpPr/>
            <p:nvPr/>
          </p:nvSpPr>
          <p:spPr>
            <a:xfrm>
              <a:off x="2304287" y="2267712"/>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50" name="TextBox 49">
              <a:extLst>
                <a:ext uri="{FF2B5EF4-FFF2-40B4-BE49-F238E27FC236}">
                  <a16:creationId xmlns:a16="http://schemas.microsoft.com/office/drawing/2014/main" id="{473CCC98-E949-AE43-D48C-3A793E23F580}"/>
                </a:ext>
              </a:extLst>
            </p:cNvPr>
            <p:cNvSpPr txBox="1"/>
            <p:nvPr/>
          </p:nvSpPr>
          <p:spPr>
            <a:xfrm>
              <a:off x="2359150" y="1802290"/>
              <a:ext cx="1766621" cy="1415476"/>
            </a:xfrm>
            <a:prstGeom prst="rect">
              <a:avLst/>
            </a:prstGeom>
            <a:noFill/>
          </p:spPr>
          <p:txBody>
            <a:bodyPr wrap="square" anchor="ctr">
              <a:spAutoFit/>
            </a:bodyPr>
            <a:lstStyle/>
            <a:p>
              <a:pPr algn="ctr"/>
              <a:r>
                <a:rPr sz="800" b="1">
                  <a:solidFill>
                    <a:srgbClr val="192C34"/>
                  </a:solidFill>
                  <a:latin typeface="+mj-lt"/>
                </a:rPr>
                <a:t>Students + faculty + institutions + industry</a:t>
              </a:r>
            </a:p>
          </p:txBody>
        </p:sp>
        <p:sp>
          <p:nvSpPr>
            <p:cNvPr id="52" name="Rectangle 51">
              <a:extLst>
                <a:ext uri="{FF2B5EF4-FFF2-40B4-BE49-F238E27FC236}">
                  <a16:creationId xmlns:a16="http://schemas.microsoft.com/office/drawing/2014/main" id="{E1D270EC-C7B6-9E52-0A13-63B46412964C}"/>
                </a:ext>
              </a:extLst>
            </p:cNvPr>
            <p:cNvSpPr/>
            <p:nvPr/>
          </p:nvSpPr>
          <p:spPr>
            <a:xfrm>
              <a:off x="4226356" y="226771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54" name="TextBox 53">
              <a:extLst>
                <a:ext uri="{FF2B5EF4-FFF2-40B4-BE49-F238E27FC236}">
                  <a16:creationId xmlns:a16="http://schemas.microsoft.com/office/drawing/2014/main" id="{7A14EDAF-AE67-05ED-D02F-09645A15FA97}"/>
                </a:ext>
              </a:extLst>
            </p:cNvPr>
            <p:cNvSpPr txBox="1"/>
            <p:nvPr/>
          </p:nvSpPr>
          <p:spPr>
            <a:xfrm>
              <a:off x="4281220" y="2100286"/>
              <a:ext cx="1766621" cy="819486"/>
            </a:xfrm>
            <a:prstGeom prst="rect">
              <a:avLst/>
            </a:prstGeom>
            <a:noFill/>
          </p:spPr>
          <p:txBody>
            <a:bodyPr wrap="square" anchor="ctr">
              <a:spAutoFit/>
            </a:bodyPr>
            <a:lstStyle/>
            <a:p>
              <a:pPr algn="ctr"/>
              <a:r>
                <a:rPr sz="800" b="0">
                  <a:solidFill>
                    <a:srgbClr val="5C6970"/>
                  </a:solidFill>
                  <a:latin typeface="+mj-lt"/>
                </a:rPr>
                <a:t>Mostly professionals</a:t>
              </a:r>
            </a:p>
          </p:txBody>
        </p:sp>
        <p:sp>
          <p:nvSpPr>
            <p:cNvPr id="56" name="Rectangle 55">
              <a:extLst>
                <a:ext uri="{FF2B5EF4-FFF2-40B4-BE49-F238E27FC236}">
                  <a16:creationId xmlns:a16="http://schemas.microsoft.com/office/drawing/2014/main" id="{BC66BB09-0193-E4F6-2F7B-440ACE2AC546}"/>
                </a:ext>
              </a:extLst>
            </p:cNvPr>
            <p:cNvSpPr/>
            <p:nvPr/>
          </p:nvSpPr>
          <p:spPr>
            <a:xfrm>
              <a:off x="6148425" y="226771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58" name="TextBox 57">
              <a:extLst>
                <a:ext uri="{FF2B5EF4-FFF2-40B4-BE49-F238E27FC236}">
                  <a16:creationId xmlns:a16="http://schemas.microsoft.com/office/drawing/2014/main" id="{513F5829-39F9-58E5-C8F9-BA09A97518F3}"/>
                </a:ext>
              </a:extLst>
            </p:cNvPr>
            <p:cNvSpPr txBox="1"/>
            <p:nvPr/>
          </p:nvSpPr>
          <p:spPr>
            <a:xfrm>
              <a:off x="6203289" y="2100286"/>
              <a:ext cx="1766621" cy="819486"/>
            </a:xfrm>
            <a:prstGeom prst="rect">
              <a:avLst/>
            </a:prstGeom>
            <a:noFill/>
          </p:spPr>
          <p:txBody>
            <a:bodyPr wrap="square" anchor="ctr">
              <a:spAutoFit/>
            </a:bodyPr>
            <a:lstStyle/>
            <a:p>
              <a:pPr algn="ctr"/>
              <a:r>
                <a:rPr sz="800" b="0">
                  <a:solidFill>
                    <a:srgbClr val="5C6970"/>
                  </a:solidFill>
                  <a:latin typeface="+mj-lt"/>
                </a:rPr>
                <a:t>Mostly job seekers</a:t>
              </a:r>
            </a:p>
          </p:txBody>
        </p:sp>
        <p:sp>
          <p:nvSpPr>
            <p:cNvPr id="60" name="Rectangle 59">
              <a:extLst>
                <a:ext uri="{FF2B5EF4-FFF2-40B4-BE49-F238E27FC236}">
                  <a16:creationId xmlns:a16="http://schemas.microsoft.com/office/drawing/2014/main" id="{1CFA62F2-8A40-DEF1-C791-FE6F18D70700}"/>
                </a:ext>
              </a:extLst>
            </p:cNvPr>
            <p:cNvSpPr/>
            <p:nvPr/>
          </p:nvSpPr>
          <p:spPr>
            <a:xfrm>
              <a:off x="8070494" y="226771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62" name="TextBox 61">
              <a:extLst>
                <a:ext uri="{FF2B5EF4-FFF2-40B4-BE49-F238E27FC236}">
                  <a16:creationId xmlns:a16="http://schemas.microsoft.com/office/drawing/2014/main" id="{5627E051-1C98-514C-C4B9-1A4AF6152994}"/>
                </a:ext>
              </a:extLst>
            </p:cNvPr>
            <p:cNvSpPr txBox="1"/>
            <p:nvPr/>
          </p:nvSpPr>
          <p:spPr>
            <a:xfrm>
              <a:off x="8125359" y="2249283"/>
              <a:ext cx="1766621" cy="521492"/>
            </a:xfrm>
            <a:prstGeom prst="rect">
              <a:avLst/>
            </a:prstGeom>
            <a:noFill/>
          </p:spPr>
          <p:txBody>
            <a:bodyPr wrap="square" anchor="ctr">
              <a:spAutoFit/>
            </a:bodyPr>
            <a:lstStyle/>
            <a:p>
              <a:pPr algn="ctr"/>
              <a:r>
                <a:rPr sz="800" b="0">
                  <a:solidFill>
                    <a:srgbClr val="5C6970"/>
                  </a:solidFill>
                  <a:latin typeface="+mj-lt"/>
                </a:rPr>
                <a:t>Learners</a:t>
              </a:r>
            </a:p>
          </p:txBody>
        </p:sp>
        <p:sp>
          <p:nvSpPr>
            <p:cNvPr id="17408" name="Rectangle 17407">
              <a:extLst>
                <a:ext uri="{FF2B5EF4-FFF2-40B4-BE49-F238E27FC236}">
                  <a16:creationId xmlns:a16="http://schemas.microsoft.com/office/drawing/2014/main" id="{C3EA5BC9-468E-B32E-2BE9-3358658D2DE7}"/>
                </a:ext>
              </a:extLst>
            </p:cNvPr>
            <p:cNvSpPr/>
            <p:nvPr/>
          </p:nvSpPr>
          <p:spPr>
            <a:xfrm>
              <a:off x="9992563" y="226771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11" name="TextBox 17410">
              <a:extLst>
                <a:ext uri="{FF2B5EF4-FFF2-40B4-BE49-F238E27FC236}">
                  <a16:creationId xmlns:a16="http://schemas.microsoft.com/office/drawing/2014/main" id="{8944CAE4-5FA8-ED48-ACA6-A9AD76509942}"/>
                </a:ext>
              </a:extLst>
            </p:cNvPr>
            <p:cNvSpPr txBox="1"/>
            <p:nvPr/>
          </p:nvSpPr>
          <p:spPr>
            <a:xfrm>
              <a:off x="10047426" y="2100286"/>
              <a:ext cx="1766621" cy="819486"/>
            </a:xfrm>
            <a:prstGeom prst="rect">
              <a:avLst/>
            </a:prstGeom>
            <a:noFill/>
          </p:spPr>
          <p:txBody>
            <a:bodyPr wrap="square" anchor="ctr">
              <a:spAutoFit/>
            </a:bodyPr>
            <a:lstStyle/>
            <a:p>
              <a:pPr algn="ctr"/>
              <a:r>
                <a:rPr sz="800" b="0">
                  <a:solidFill>
                    <a:srgbClr val="5C6970"/>
                  </a:solidFill>
                  <a:latin typeface="+mj-lt"/>
                </a:rPr>
                <a:t>Primarily students</a:t>
              </a:r>
            </a:p>
          </p:txBody>
        </p:sp>
        <p:sp>
          <p:nvSpPr>
            <p:cNvPr id="17413" name="Rectangle 17412">
              <a:extLst>
                <a:ext uri="{FF2B5EF4-FFF2-40B4-BE49-F238E27FC236}">
                  <a16:creationId xmlns:a16="http://schemas.microsoft.com/office/drawing/2014/main" id="{82C6CD5C-104E-4DC3-625E-93E6A77FB116}"/>
                </a:ext>
              </a:extLst>
            </p:cNvPr>
            <p:cNvSpPr/>
            <p:nvPr/>
          </p:nvSpPr>
          <p:spPr>
            <a:xfrm>
              <a:off x="292608" y="2788920"/>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15" name="TextBox 17414">
              <a:extLst>
                <a:ext uri="{FF2B5EF4-FFF2-40B4-BE49-F238E27FC236}">
                  <a16:creationId xmlns:a16="http://schemas.microsoft.com/office/drawing/2014/main" id="{7BC04135-D5BE-7844-2C77-B43B4F0EF450}"/>
                </a:ext>
              </a:extLst>
            </p:cNvPr>
            <p:cNvSpPr txBox="1"/>
            <p:nvPr/>
          </p:nvSpPr>
          <p:spPr>
            <a:xfrm>
              <a:off x="411482" y="2848457"/>
              <a:ext cx="1892806" cy="340103"/>
            </a:xfrm>
            <a:prstGeom prst="rect">
              <a:avLst/>
            </a:prstGeom>
            <a:noFill/>
          </p:spPr>
          <p:txBody>
            <a:bodyPr wrap="square" anchor="ctr">
              <a:spAutoFit/>
            </a:bodyPr>
            <a:lstStyle/>
            <a:p>
              <a:pPr algn="l"/>
              <a:r>
                <a:rPr sz="800" b="1">
                  <a:solidFill>
                    <a:srgbClr val="192C34"/>
                  </a:solidFill>
                  <a:latin typeface="+mj-lt"/>
                </a:rPr>
                <a:t>What can you find?</a:t>
              </a:r>
            </a:p>
          </p:txBody>
        </p:sp>
        <p:sp>
          <p:nvSpPr>
            <p:cNvPr id="17417" name="Rectangle 17416">
              <a:extLst>
                <a:ext uri="{FF2B5EF4-FFF2-40B4-BE49-F238E27FC236}">
                  <a16:creationId xmlns:a16="http://schemas.microsoft.com/office/drawing/2014/main" id="{B1D2E344-CD74-937F-1C39-8CA325158724}"/>
                </a:ext>
              </a:extLst>
            </p:cNvPr>
            <p:cNvSpPr/>
            <p:nvPr/>
          </p:nvSpPr>
          <p:spPr>
            <a:xfrm>
              <a:off x="2304287" y="2788920"/>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19" name="TextBox 17418">
              <a:extLst>
                <a:ext uri="{FF2B5EF4-FFF2-40B4-BE49-F238E27FC236}">
                  <a16:creationId xmlns:a16="http://schemas.microsoft.com/office/drawing/2014/main" id="{6FAA9F94-F617-7845-3CC8-BA56698EEB26}"/>
                </a:ext>
              </a:extLst>
            </p:cNvPr>
            <p:cNvSpPr txBox="1"/>
            <p:nvPr/>
          </p:nvSpPr>
          <p:spPr>
            <a:xfrm>
              <a:off x="2359150" y="2323497"/>
              <a:ext cx="1766621" cy="1415476"/>
            </a:xfrm>
            <a:prstGeom prst="rect">
              <a:avLst/>
            </a:prstGeom>
            <a:noFill/>
          </p:spPr>
          <p:txBody>
            <a:bodyPr wrap="square" anchor="ctr">
              <a:spAutoFit/>
            </a:bodyPr>
            <a:lstStyle/>
            <a:p>
              <a:pPr algn="ctr"/>
              <a:r>
                <a:rPr sz="800" b="1">
                  <a:solidFill>
                    <a:srgbClr val="192C34"/>
                  </a:solidFill>
                  <a:latin typeface="+mj-lt"/>
                </a:rPr>
                <a:t>Internships, jobs, projects, mentorship &amp; research</a:t>
              </a:r>
            </a:p>
          </p:txBody>
        </p:sp>
        <p:sp>
          <p:nvSpPr>
            <p:cNvPr id="17421" name="Rectangle 17420">
              <a:extLst>
                <a:ext uri="{FF2B5EF4-FFF2-40B4-BE49-F238E27FC236}">
                  <a16:creationId xmlns:a16="http://schemas.microsoft.com/office/drawing/2014/main" id="{8AE124CE-6A94-534A-0AB8-ECDCCD6D9CED}"/>
                </a:ext>
              </a:extLst>
            </p:cNvPr>
            <p:cNvSpPr/>
            <p:nvPr/>
          </p:nvSpPr>
          <p:spPr>
            <a:xfrm>
              <a:off x="4226356" y="278892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23" name="TextBox 17422">
              <a:extLst>
                <a:ext uri="{FF2B5EF4-FFF2-40B4-BE49-F238E27FC236}">
                  <a16:creationId xmlns:a16="http://schemas.microsoft.com/office/drawing/2014/main" id="{B108F1A7-BB2E-B1BB-3AB3-52AF7D8B836B}"/>
                </a:ext>
              </a:extLst>
            </p:cNvPr>
            <p:cNvSpPr txBox="1"/>
            <p:nvPr/>
          </p:nvSpPr>
          <p:spPr>
            <a:xfrm>
              <a:off x="4281220" y="2621493"/>
              <a:ext cx="1766621" cy="819486"/>
            </a:xfrm>
            <a:prstGeom prst="rect">
              <a:avLst/>
            </a:prstGeom>
            <a:noFill/>
          </p:spPr>
          <p:txBody>
            <a:bodyPr wrap="square" anchor="ctr">
              <a:spAutoFit/>
            </a:bodyPr>
            <a:lstStyle/>
            <a:p>
              <a:pPr algn="ctr"/>
              <a:r>
                <a:rPr sz="800" b="0">
                  <a:solidFill>
                    <a:srgbClr val="5C6970"/>
                  </a:solidFill>
                  <a:latin typeface="+mj-lt"/>
                </a:rPr>
                <a:t>Jobs + some learning</a:t>
              </a:r>
            </a:p>
          </p:txBody>
        </p:sp>
        <p:sp>
          <p:nvSpPr>
            <p:cNvPr id="17425" name="Rectangle 17424">
              <a:extLst>
                <a:ext uri="{FF2B5EF4-FFF2-40B4-BE49-F238E27FC236}">
                  <a16:creationId xmlns:a16="http://schemas.microsoft.com/office/drawing/2014/main" id="{8CEDFA37-8371-7B34-4CCF-62645CDEDB6B}"/>
                </a:ext>
              </a:extLst>
            </p:cNvPr>
            <p:cNvSpPr/>
            <p:nvPr/>
          </p:nvSpPr>
          <p:spPr>
            <a:xfrm>
              <a:off x="6148425" y="278892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27" name="TextBox 17426">
              <a:extLst>
                <a:ext uri="{FF2B5EF4-FFF2-40B4-BE49-F238E27FC236}">
                  <a16:creationId xmlns:a16="http://schemas.microsoft.com/office/drawing/2014/main" id="{0F7C9170-88E5-9747-F6A4-3FAC60DA6563}"/>
                </a:ext>
              </a:extLst>
            </p:cNvPr>
            <p:cNvSpPr txBox="1"/>
            <p:nvPr/>
          </p:nvSpPr>
          <p:spPr>
            <a:xfrm>
              <a:off x="6203289" y="2770490"/>
              <a:ext cx="1766621" cy="521492"/>
            </a:xfrm>
            <a:prstGeom prst="rect">
              <a:avLst/>
            </a:prstGeom>
            <a:noFill/>
          </p:spPr>
          <p:txBody>
            <a:bodyPr wrap="square" anchor="ctr">
              <a:spAutoFit/>
            </a:bodyPr>
            <a:lstStyle/>
            <a:p>
              <a:pPr algn="ctr"/>
              <a:r>
                <a:rPr sz="800" b="0">
                  <a:solidFill>
                    <a:srgbClr val="5C6970"/>
                  </a:solidFill>
                  <a:latin typeface="+mj-lt"/>
                </a:rPr>
                <a:t>Jobs</a:t>
              </a:r>
            </a:p>
          </p:txBody>
        </p:sp>
        <p:sp>
          <p:nvSpPr>
            <p:cNvPr id="17429" name="Rectangle 17428">
              <a:extLst>
                <a:ext uri="{FF2B5EF4-FFF2-40B4-BE49-F238E27FC236}">
                  <a16:creationId xmlns:a16="http://schemas.microsoft.com/office/drawing/2014/main" id="{C7476389-B331-D9E3-25F0-1483BC07AC86}"/>
                </a:ext>
              </a:extLst>
            </p:cNvPr>
            <p:cNvSpPr/>
            <p:nvPr/>
          </p:nvSpPr>
          <p:spPr>
            <a:xfrm>
              <a:off x="8070494" y="278892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31" name="TextBox 17430">
              <a:extLst>
                <a:ext uri="{FF2B5EF4-FFF2-40B4-BE49-F238E27FC236}">
                  <a16:creationId xmlns:a16="http://schemas.microsoft.com/office/drawing/2014/main" id="{EE7E770B-7CD7-0127-6085-1BF00E08149B}"/>
                </a:ext>
              </a:extLst>
            </p:cNvPr>
            <p:cNvSpPr txBox="1"/>
            <p:nvPr/>
          </p:nvSpPr>
          <p:spPr>
            <a:xfrm>
              <a:off x="8125359" y="2621493"/>
              <a:ext cx="1766621" cy="819486"/>
            </a:xfrm>
            <a:prstGeom prst="rect">
              <a:avLst/>
            </a:prstGeom>
            <a:noFill/>
          </p:spPr>
          <p:txBody>
            <a:bodyPr wrap="square" anchor="ctr">
              <a:spAutoFit/>
            </a:bodyPr>
            <a:lstStyle/>
            <a:p>
              <a:pPr algn="ctr"/>
              <a:r>
                <a:rPr sz="800" b="0">
                  <a:solidFill>
                    <a:srgbClr val="5C6970"/>
                  </a:solidFill>
                  <a:latin typeface="+mj-lt"/>
                </a:rPr>
                <a:t>Courses + certificates</a:t>
              </a:r>
            </a:p>
          </p:txBody>
        </p:sp>
        <p:sp>
          <p:nvSpPr>
            <p:cNvPr id="17433" name="Rectangle 17432">
              <a:extLst>
                <a:ext uri="{FF2B5EF4-FFF2-40B4-BE49-F238E27FC236}">
                  <a16:creationId xmlns:a16="http://schemas.microsoft.com/office/drawing/2014/main" id="{57E02C6F-DE8C-2101-3726-B89C623953AF}"/>
                </a:ext>
              </a:extLst>
            </p:cNvPr>
            <p:cNvSpPr/>
            <p:nvPr/>
          </p:nvSpPr>
          <p:spPr>
            <a:xfrm>
              <a:off x="9992563" y="278892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35" name="TextBox 17434">
              <a:extLst>
                <a:ext uri="{FF2B5EF4-FFF2-40B4-BE49-F238E27FC236}">
                  <a16:creationId xmlns:a16="http://schemas.microsoft.com/office/drawing/2014/main" id="{641AE00E-33DE-E9FC-9B58-F488112FEA18}"/>
                </a:ext>
              </a:extLst>
            </p:cNvPr>
            <p:cNvSpPr txBox="1"/>
            <p:nvPr/>
          </p:nvSpPr>
          <p:spPr>
            <a:xfrm>
              <a:off x="10047426" y="2770490"/>
              <a:ext cx="1766621" cy="521492"/>
            </a:xfrm>
            <a:prstGeom prst="rect">
              <a:avLst/>
            </a:prstGeom>
            <a:noFill/>
          </p:spPr>
          <p:txBody>
            <a:bodyPr wrap="square" anchor="ctr">
              <a:spAutoFit/>
            </a:bodyPr>
            <a:lstStyle/>
            <a:p>
              <a:pPr algn="ctr"/>
              <a:r>
                <a:rPr sz="800" b="0">
                  <a:solidFill>
                    <a:srgbClr val="5C6970"/>
                  </a:solidFill>
                  <a:latin typeface="+mj-lt"/>
                </a:rPr>
                <a:t>Internships</a:t>
              </a:r>
            </a:p>
          </p:txBody>
        </p:sp>
        <p:sp>
          <p:nvSpPr>
            <p:cNvPr id="17437" name="Rectangle 17436">
              <a:extLst>
                <a:ext uri="{FF2B5EF4-FFF2-40B4-BE49-F238E27FC236}">
                  <a16:creationId xmlns:a16="http://schemas.microsoft.com/office/drawing/2014/main" id="{72971D5E-A5CF-2BEA-6090-B2986FA167ED}"/>
                </a:ext>
              </a:extLst>
            </p:cNvPr>
            <p:cNvSpPr/>
            <p:nvPr/>
          </p:nvSpPr>
          <p:spPr>
            <a:xfrm>
              <a:off x="292608" y="3310128"/>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39" name="TextBox 17438">
              <a:extLst>
                <a:ext uri="{FF2B5EF4-FFF2-40B4-BE49-F238E27FC236}">
                  <a16:creationId xmlns:a16="http://schemas.microsoft.com/office/drawing/2014/main" id="{709991D4-7FE3-226A-2DFB-5576FD64A867}"/>
                </a:ext>
              </a:extLst>
            </p:cNvPr>
            <p:cNvSpPr txBox="1"/>
            <p:nvPr/>
          </p:nvSpPr>
          <p:spPr>
            <a:xfrm>
              <a:off x="365761" y="3142702"/>
              <a:ext cx="1819655" cy="819486"/>
            </a:xfrm>
            <a:prstGeom prst="rect">
              <a:avLst/>
            </a:prstGeom>
            <a:noFill/>
          </p:spPr>
          <p:txBody>
            <a:bodyPr wrap="square" anchor="ctr">
              <a:spAutoFit/>
            </a:bodyPr>
            <a:lstStyle/>
            <a:p>
              <a:pPr algn="l"/>
              <a:r>
                <a:rPr sz="800" b="1">
                  <a:solidFill>
                    <a:srgbClr val="192C34"/>
                  </a:solidFill>
                  <a:latin typeface="+mj-lt"/>
                </a:rPr>
                <a:t>Can I trust the profile?</a:t>
              </a:r>
            </a:p>
          </p:txBody>
        </p:sp>
        <p:sp>
          <p:nvSpPr>
            <p:cNvPr id="17441" name="Rectangle 17440">
              <a:extLst>
                <a:ext uri="{FF2B5EF4-FFF2-40B4-BE49-F238E27FC236}">
                  <a16:creationId xmlns:a16="http://schemas.microsoft.com/office/drawing/2014/main" id="{57061CB3-8BE6-516E-DFF6-6478C2C34A93}"/>
                </a:ext>
              </a:extLst>
            </p:cNvPr>
            <p:cNvSpPr/>
            <p:nvPr/>
          </p:nvSpPr>
          <p:spPr>
            <a:xfrm>
              <a:off x="2304287" y="3310128"/>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43" name="TextBox 17442">
              <a:extLst>
                <a:ext uri="{FF2B5EF4-FFF2-40B4-BE49-F238E27FC236}">
                  <a16:creationId xmlns:a16="http://schemas.microsoft.com/office/drawing/2014/main" id="{C0BDD4EB-A268-0CFA-65C7-A5549A222B44}"/>
                </a:ext>
              </a:extLst>
            </p:cNvPr>
            <p:cNvSpPr txBox="1"/>
            <p:nvPr/>
          </p:nvSpPr>
          <p:spPr>
            <a:xfrm>
              <a:off x="2359150" y="2844706"/>
              <a:ext cx="1766621" cy="1415476"/>
            </a:xfrm>
            <a:prstGeom prst="rect">
              <a:avLst/>
            </a:prstGeom>
            <a:noFill/>
          </p:spPr>
          <p:txBody>
            <a:bodyPr wrap="square" anchor="ctr">
              <a:spAutoFit/>
            </a:bodyPr>
            <a:lstStyle/>
            <a:p>
              <a:pPr algn="ctr"/>
              <a:r>
                <a:rPr sz="800" b="1">
                  <a:solidFill>
                    <a:srgbClr val="192C34"/>
                  </a:solidFill>
                  <a:latin typeface="+mj-lt"/>
                </a:rPr>
                <a:t>Verified by institutions + industry partners</a:t>
              </a:r>
            </a:p>
          </p:txBody>
        </p:sp>
        <p:sp>
          <p:nvSpPr>
            <p:cNvPr id="17445" name="Rectangle 17444">
              <a:extLst>
                <a:ext uri="{FF2B5EF4-FFF2-40B4-BE49-F238E27FC236}">
                  <a16:creationId xmlns:a16="http://schemas.microsoft.com/office/drawing/2014/main" id="{D9BE7024-AA7D-9623-8A03-9109AB90C113}"/>
                </a:ext>
              </a:extLst>
            </p:cNvPr>
            <p:cNvSpPr/>
            <p:nvPr/>
          </p:nvSpPr>
          <p:spPr>
            <a:xfrm>
              <a:off x="4226356" y="3310128"/>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47" name="TextBox 17446">
              <a:extLst>
                <a:ext uri="{FF2B5EF4-FFF2-40B4-BE49-F238E27FC236}">
                  <a16:creationId xmlns:a16="http://schemas.microsoft.com/office/drawing/2014/main" id="{50DBD579-164A-5A5E-E641-DBB24605268D}"/>
                </a:ext>
              </a:extLst>
            </p:cNvPr>
            <p:cNvSpPr txBox="1"/>
            <p:nvPr/>
          </p:nvSpPr>
          <p:spPr>
            <a:xfrm>
              <a:off x="4281220" y="3142700"/>
              <a:ext cx="1766621" cy="819486"/>
            </a:xfrm>
            <a:prstGeom prst="rect">
              <a:avLst/>
            </a:prstGeom>
            <a:noFill/>
          </p:spPr>
          <p:txBody>
            <a:bodyPr wrap="square" anchor="ctr">
              <a:spAutoFit/>
            </a:bodyPr>
            <a:lstStyle/>
            <a:p>
              <a:pPr algn="ctr"/>
              <a:r>
                <a:rPr sz="800" b="0">
                  <a:solidFill>
                    <a:srgbClr val="5C6970"/>
                  </a:solidFill>
                  <a:latin typeface="+mj-lt"/>
                </a:rPr>
                <a:t>User-created profiles/posts</a:t>
              </a:r>
            </a:p>
          </p:txBody>
        </p:sp>
        <p:sp>
          <p:nvSpPr>
            <p:cNvPr id="17449" name="Rectangle 17448">
              <a:extLst>
                <a:ext uri="{FF2B5EF4-FFF2-40B4-BE49-F238E27FC236}">
                  <a16:creationId xmlns:a16="http://schemas.microsoft.com/office/drawing/2014/main" id="{889BC1E2-8B6C-4CEE-DC6F-8B7D23434BD5}"/>
                </a:ext>
              </a:extLst>
            </p:cNvPr>
            <p:cNvSpPr/>
            <p:nvPr/>
          </p:nvSpPr>
          <p:spPr>
            <a:xfrm>
              <a:off x="6148425" y="3310128"/>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51" name="TextBox 17450">
              <a:extLst>
                <a:ext uri="{FF2B5EF4-FFF2-40B4-BE49-F238E27FC236}">
                  <a16:creationId xmlns:a16="http://schemas.microsoft.com/office/drawing/2014/main" id="{3B49D9C7-D82B-8313-7636-78BF23CFA5D0}"/>
                </a:ext>
              </a:extLst>
            </p:cNvPr>
            <p:cNvSpPr txBox="1"/>
            <p:nvPr/>
          </p:nvSpPr>
          <p:spPr>
            <a:xfrm>
              <a:off x="6203289" y="3142702"/>
              <a:ext cx="1766621" cy="819486"/>
            </a:xfrm>
            <a:prstGeom prst="rect">
              <a:avLst/>
            </a:prstGeom>
            <a:noFill/>
          </p:spPr>
          <p:txBody>
            <a:bodyPr wrap="square" anchor="ctr">
              <a:spAutoFit/>
            </a:bodyPr>
            <a:lstStyle/>
            <a:p>
              <a:pPr algn="ctr"/>
              <a:r>
                <a:rPr sz="800" b="0">
                  <a:solidFill>
                    <a:srgbClr val="5C6970"/>
                  </a:solidFill>
                  <a:latin typeface="+mj-lt"/>
                </a:rPr>
                <a:t>Mostly self-posted</a:t>
              </a:r>
            </a:p>
          </p:txBody>
        </p:sp>
        <p:sp>
          <p:nvSpPr>
            <p:cNvPr id="17453" name="Rectangle 17452">
              <a:extLst>
                <a:ext uri="{FF2B5EF4-FFF2-40B4-BE49-F238E27FC236}">
                  <a16:creationId xmlns:a16="http://schemas.microsoft.com/office/drawing/2014/main" id="{762062E4-373C-7FD3-7D41-1ADA42FC2405}"/>
                </a:ext>
              </a:extLst>
            </p:cNvPr>
            <p:cNvSpPr/>
            <p:nvPr/>
          </p:nvSpPr>
          <p:spPr>
            <a:xfrm>
              <a:off x="8070494" y="3310128"/>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55" name="TextBox 17454">
              <a:extLst>
                <a:ext uri="{FF2B5EF4-FFF2-40B4-BE49-F238E27FC236}">
                  <a16:creationId xmlns:a16="http://schemas.microsoft.com/office/drawing/2014/main" id="{B6814A5F-28F2-7679-2381-CC44BCDF92F8}"/>
                </a:ext>
              </a:extLst>
            </p:cNvPr>
            <p:cNvSpPr txBox="1"/>
            <p:nvPr/>
          </p:nvSpPr>
          <p:spPr>
            <a:xfrm>
              <a:off x="8125359" y="3142702"/>
              <a:ext cx="1766621" cy="819486"/>
            </a:xfrm>
            <a:prstGeom prst="rect">
              <a:avLst/>
            </a:prstGeom>
            <a:noFill/>
          </p:spPr>
          <p:txBody>
            <a:bodyPr wrap="square" anchor="ctr">
              <a:spAutoFit/>
            </a:bodyPr>
            <a:lstStyle/>
            <a:p>
              <a:pPr algn="ctr"/>
              <a:r>
                <a:rPr sz="800" b="0">
                  <a:solidFill>
                    <a:srgbClr val="5C6970"/>
                  </a:solidFill>
                  <a:latin typeface="+mj-lt"/>
                </a:rPr>
                <a:t>Verified certificates</a:t>
              </a:r>
            </a:p>
          </p:txBody>
        </p:sp>
        <p:sp>
          <p:nvSpPr>
            <p:cNvPr id="17457" name="Rectangle 17456">
              <a:extLst>
                <a:ext uri="{FF2B5EF4-FFF2-40B4-BE49-F238E27FC236}">
                  <a16:creationId xmlns:a16="http://schemas.microsoft.com/office/drawing/2014/main" id="{25602701-1372-E867-4190-5B3F8DA67A20}"/>
                </a:ext>
              </a:extLst>
            </p:cNvPr>
            <p:cNvSpPr/>
            <p:nvPr/>
          </p:nvSpPr>
          <p:spPr>
            <a:xfrm>
              <a:off x="9992563" y="3310128"/>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59" name="TextBox 17458">
              <a:extLst>
                <a:ext uri="{FF2B5EF4-FFF2-40B4-BE49-F238E27FC236}">
                  <a16:creationId xmlns:a16="http://schemas.microsoft.com/office/drawing/2014/main" id="{C4AEFD28-49A3-27D6-AE22-D2DF34B25F25}"/>
                </a:ext>
              </a:extLst>
            </p:cNvPr>
            <p:cNvSpPr txBox="1"/>
            <p:nvPr/>
          </p:nvSpPr>
          <p:spPr>
            <a:xfrm>
              <a:off x="10047426" y="3291699"/>
              <a:ext cx="1766621" cy="521492"/>
            </a:xfrm>
            <a:prstGeom prst="rect">
              <a:avLst/>
            </a:prstGeom>
            <a:noFill/>
          </p:spPr>
          <p:txBody>
            <a:bodyPr wrap="square" anchor="ctr">
              <a:spAutoFit/>
            </a:bodyPr>
            <a:lstStyle/>
            <a:p>
              <a:pPr algn="ctr"/>
              <a:r>
                <a:rPr sz="800" b="0">
                  <a:solidFill>
                    <a:srgbClr val="5C6970"/>
                  </a:solidFill>
                  <a:latin typeface="+mj-lt"/>
                </a:rPr>
                <a:t>Mixed quality</a:t>
              </a:r>
            </a:p>
          </p:txBody>
        </p:sp>
        <p:sp>
          <p:nvSpPr>
            <p:cNvPr id="17461" name="Rectangle 17460">
              <a:extLst>
                <a:ext uri="{FF2B5EF4-FFF2-40B4-BE49-F238E27FC236}">
                  <a16:creationId xmlns:a16="http://schemas.microsoft.com/office/drawing/2014/main" id="{ADF5E02A-A5AB-52DA-AFB9-669E0515A5F1}"/>
                </a:ext>
              </a:extLst>
            </p:cNvPr>
            <p:cNvSpPr/>
            <p:nvPr/>
          </p:nvSpPr>
          <p:spPr>
            <a:xfrm>
              <a:off x="292608" y="3831335"/>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63" name="TextBox 17462">
              <a:extLst>
                <a:ext uri="{FF2B5EF4-FFF2-40B4-BE49-F238E27FC236}">
                  <a16:creationId xmlns:a16="http://schemas.microsoft.com/office/drawing/2014/main" id="{203B3658-A0C4-9307-6D5E-B8A7E73A2F8C}"/>
                </a:ext>
              </a:extLst>
            </p:cNvPr>
            <p:cNvSpPr txBox="1"/>
            <p:nvPr/>
          </p:nvSpPr>
          <p:spPr>
            <a:xfrm>
              <a:off x="365761" y="3365913"/>
              <a:ext cx="1819655" cy="1415476"/>
            </a:xfrm>
            <a:prstGeom prst="rect">
              <a:avLst/>
            </a:prstGeom>
            <a:noFill/>
          </p:spPr>
          <p:txBody>
            <a:bodyPr wrap="square" anchor="ctr">
              <a:spAutoFit/>
            </a:bodyPr>
            <a:lstStyle/>
            <a:p>
              <a:pPr algn="l"/>
              <a:r>
                <a:rPr sz="800" b="1">
                  <a:solidFill>
                    <a:srgbClr val="192C34"/>
                  </a:solidFill>
                  <a:latin typeface="+mj-lt"/>
                </a:rPr>
                <a:t>Does it connect campus + industry?</a:t>
              </a:r>
            </a:p>
          </p:txBody>
        </p:sp>
        <p:sp>
          <p:nvSpPr>
            <p:cNvPr id="17465" name="Rectangle 17464">
              <a:extLst>
                <a:ext uri="{FF2B5EF4-FFF2-40B4-BE49-F238E27FC236}">
                  <a16:creationId xmlns:a16="http://schemas.microsoft.com/office/drawing/2014/main" id="{30B5846F-EB09-AFEE-516C-FCCC680F8532}"/>
                </a:ext>
              </a:extLst>
            </p:cNvPr>
            <p:cNvSpPr/>
            <p:nvPr/>
          </p:nvSpPr>
          <p:spPr>
            <a:xfrm>
              <a:off x="2304287" y="3831335"/>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67" name="TextBox 17466">
              <a:extLst>
                <a:ext uri="{FF2B5EF4-FFF2-40B4-BE49-F238E27FC236}">
                  <a16:creationId xmlns:a16="http://schemas.microsoft.com/office/drawing/2014/main" id="{AC89F38B-1D01-D75D-A438-54E4386FE959}"/>
                </a:ext>
              </a:extLst>
            </p:cNvPr>
            <p:cNvSpPr txBox="1"/>
            <p:nvPr/>
          </p:nvSpPr>
          <p:spPr>
            <a:xfrm>
              <a:off x="2359150" y="3365913"/>
              <a:ext cx="1766621" cy="1415476"/>
            </a:xfrm>
            <a:prstGeom prst="rect">
              <a:avLst/>
            </a:prstGeom>
            <a:noFill/>
          </p:spPr>
          <p:txBody>
            <a:bodyPr wrap="square" anchor="ctr">
              <a:spAutoFit/>
            </a:bodyPr>
            <a:lstStyle/>
            <a:p>
              <a:pPr algn="ctr"/>
              <a:r>
                <a:rPr sz="800" b="1">
                  <a:solidFill>
                    <a:srgbClr val="192C34"/>
                  </a:solidFill>
                  <a:latin typeface="+mj-lt"/>
                </a:rPr>
                <a:t>Yes — collaboration, training &amp; projects</a:t>
              </a:r>
            </a:p>
          </p:txBody>
        </p:sp>
        <p:sp>
          <p:nvSpPr>
            <p:cNvPr id="17469" name="Rectangle 17468">
              <a:extLst>
                <a:ext uri="{FF2B5EF4-FFF2-40B4-BE49-F238E27FC236}">
                  <a16:creationId xmlns:a16="http://schemas.microsoft.com/office/drawing/2014/main" id="{DCB4EC5C-691B-6ECD-95DD-ECCA1055D8A0}"/>
                </a:ext>
              </a:extLst>
            </p:cNvPr>
            <p:cNvSpPr/>
            <p:nvPr/>
          </p:nvSpPr>
          <p:spPr>
            <a:xfrm>
              <a:off x="4226356" y="3831335"/>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71" name="TextBox 17470">
              <a:extLst>
                <a:ext uri="{FF2B5EF4-FFF2-40B4-BE49-F238E27FC236}">
                  <a16:creationId xmlns:a16="http://schemas.microsoft.com/office/drawing/2014/main" id="{617D6FCA-F175-566C-6C4C-C4B727BCE179}"/>
                </a:ext>
              </a:extLst>
            </p:cNvPr>
            <p:cNvSpPr txBox="1"/>
            <p:nvPr/>
          </p:nvSpPr>
          <p:spPr>
            <a:xfrm>
              <a:off x="4281220" y="3812906"/>
              <a:ext cx="1766621" cy="521492"/>
            </a:xfrm>
            <a:prstGeom prst="rect">
              <a:avLst/>
            </a:prstGeom>
            <a:noFill/>
          </p:spPr>
          <p:txBody>
            <a:bodyPr wrap="square" anchor="ctr">
              <a:spAutoFit/>
            </a:bodyPr>
            <a:lstStyle/>
            <a:p>
              <a:pPr algn="ctr"/>
              <a:r>
                <a:rPr sz="800" b="0">
                  <a:solidFill>
                    <a:srgbClr val="5C6970"/>
                  </a:solidFill>
                  <a:latin typeface="+mj-lt"/>
                </a:rPr>
                <a:t>Limited</a:t>
              </a:r>
            </a:p>
          </p:txBody>
        </p:sp>
        <p:sp>
          <p:nvSpPr>
            <p:cNvPr id="17473" name="Rectangle 17472">
              <a:extLst>
                <a:ext uri="{FF2B5EF4-FFF2-40B4-BE49-F238E27FC236}">
                  <a16:creationId xmlns:a16="http://schemas.microsoft.com/office/drawing/2014/main" id="{36CB6C9E-3126-CAA2-16D7-5E6418AD383E}"/>
                </a:ext>
              </a:extLst>
            </p:cNvPr>
            <p:cNvSpPr/>
            <p:nvPr/>
          </p:nvSpPr>
          <p:spPr>
            <a:xfrm>
              <a:off x="6148425" y="3831335"/>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75" name="TextBox 17474">
              <a:extLst>
                <a:ext uri="{FF2B5EF4-FFF2-40B4-BE49-F238E27FC236}">
                  <a16:creationId xmlns:a16="http://schemas.microsoft.com/office/drawing/2014/main" id="{5C2D7DCF-05A1-7AEC-BD4A-F3B766F1EB98}"/>
                </a:ext>
              </a:extLst>
            </p:cNvPr>
            <p:cNvSpPr txBox="1"/>
            <p:nvPr/>
          </p:nvSpPr>
          <p:spPr>
            <a:xfrm>
              <a:off x="6203289" y="3812906"/>
              <a:ext cx="1766621" cy="521492"/>
            </a:xfrm>
            <a:prstGeom prst="rect">
              <a:avLst/>
            </a:prstGeom>
            <a:noFill/>
          </p:spPr>
          <p:txBody>
            <a:bodyPr wrap="square" anchor="ctr">
              <a:spAutoFit/>
            </a:bodyPr>
            <a:lstStyle/>
            <a:p>
              <a:pPr algn="ctr"/>
              <a:r>
                <a:rPr sz="800" b="0">
                  <a:solidFill>
                    <a:srgbClr val="5C6970"/>
                  </a:solidFill>
                  <a:latin typeface="+mj-lt"/>
                </a:rPr>
                <a:t>Indirect</a:t>
              </a:r>
            </a:p>
          </p:txBody>
        </p:sp>
        <p:sp>
          <p:nvSpPr>
            <p:cNvPr id="17477" name="Rectangle 17476">
              <a:extLst>
                <a:ext uri="{FF2B5EF4-FFF2-40B4-BE49-F238E27FC236}">
                  <a16:creationId xmlns:a16="http://schemas.microsoft.com/office/drawing/2014/main" id="{CAB154EE-2106-9530-1FD7-973237A65ABD}"/>
                </a:ext>
              </a:extLst>
            </p:cNvPr>
            <p:cNvSpPr/>
            <p:nvPr/>
          </p:nvSpPr>
          <p:spPr>
            <a:xfrm>
              <a:off x="8070494" y="3831335"/>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79" name="TextBox 17478">
              <a:extLst>
                <a:ext uri="{FF2B5EF4-FFF2-40B4-BE49-F238E27FC236}">
                  <a16:creationId xmlns:a16="http://schemas.microsoft.com/office/drawing/2014/main" id="{EF512249-B603-8274-D76D-4CF21989A2B8}"/>
                </a:ext>
              </a:extLst>
            </p:cNvPr>
            <p:cNvSpPr txBox="1"/>
            <p:nvPr/>
          </p:nvSpPr>
          <p:spPr>
            <a:xfrm>
              <a:off x="8125359" y="3663909"/>
              <a:ext cx="1766621" cy="819486"/>
            </a:xfrm>
            <a:prstGeom prst="rect">
              <a:avLst/>
            </a:prstGeom>
            <a:noFill/>
          </p:spPr>
          <p:txBody>
            <a:bodyPr wrap="square" anchor="ctr">
              <a:spAutoFit/>
            </a:bodyPr>
            <a:lstStyle/>
            <a:p>
              <a:pPr algn="ctr"/>
              <a:r>
                <a:rPr sz="800" b="0">
                  <a:solidFill>
                    <a:srgbClr val="5C6970"/>
                  </a:solidFill>
                  <a:latin typeface="+mj-lt"/>
                </a:rPr>
                <a:t>Learning-focused</a:t>
              </a:r>
            </a:p>
          </p:txBody>
        </p:sp>
        <p:sp>
          <p:nvSpPr>
            <p:cNvPr id="17481" name="Rectangle 17480">
              <a:extLst>
                <a:ext uri="{FF2B5EF4-FFF2-40B4-BE49-F238E27FC236}">
                  <a16:creationId xmlns:a16="http://schemas.microsoft.com/office/drawing/2014/main" id="{64197EF7-496C-443B-B788-447DB4EBF97F}"/>
                </a:ext>
              </a:extLst>
            </p:cNvPr>
            <p:cNvSpPr/>
            <p:nvPr/>
          </p:nvSpPr>
          <p:spPr>
            <a:xfrm>
              <a:off x="9992563" y="3831335"/>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83" name="TextBox 17482">
              <a:extLst>
                <a:ext uri="{FF2B5EF4-FFF2-40B4-BE49-F238E27FC236}">
                  <a16:creationId xmlns:a16="http://schemas.microsoft.com/office/drawing/2014/main" id="{37FEFBA7-7F91-F96E-ADAF-17D4BA718132}"/>
                </a:ext>
              </a:extLst>
            </p:cNvPr>
            <p:cNvSpPr txBox="1"/>
            <p:nvPr/>
          </p:nvSpPr>
          <p:spPr>
            <a:xfrm>
              <a:off x="10047426" y="3812906"/>
              <a:ext cx="1766621" cy="521492"/>
            </a:xfrm>
            <a:prstGeom prst="rect">
              <a:avLst/>
            </a:prstGeom>
            <a:noFill/>
          </p:spPr>
          <p:txBody>
            <a:bodyPr wrap="square" anchor="ctr">
              <a:spAutoFit/>
            </a:bodyPr>
            <a:lstStyle/>
            <a:p>
              <a:pPr algn="ctr"/>
              <a:r>
                <a:rPr sz="800" b="0">
                  <a:solidFill>
                    <a:srgbClr val="5C6970"/>
                  </a:solidFill>
                  <a:latin typeface="+mj-lt"/>
                </a:rPr>
                <a:t>Limited</a:t>
              </a:r>
            </a:p>
          </p:txBody>
        </p:sp>
        <p:sp>
          <p:nvSpPr>
            <p:cNvPr id="17485" name="Rectangle 17484">
              <a:extLst>
                <a:ext uri="{FF2B5EF4-FFF2-40B4-BE49-F238E27FC236}">
                  <a16:creationId xmlns:a16="http://schemas.microsoft.com/office/drawing/2014/main" id="{AE86AE5A-7075-A41D-7E08-E02EF358DDC4}"/>
                </a:ext>
              </a:extLst>
            </p:cNvPr>
            <p:cNvSpPr/>
            <p:nvPr/>
          </p:nvSpPr>
          <p:spPr>
            <a:xfrm>
              <a:off x="292608" y="4352544"/>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87" name="TextBox 17486">
              <a:extLst>
                <a:ext uri="{FF2B5EF4-FFF2-40B4-BE49-F238E27FC236}">
                  <a16:creationId xmlns:a16="http://schemas.microsoft.com/office/drawing/2014/main" id="{CC46BD54-43EF-830F-784B-19030D3D325E}"/>
                </a:ext>
              </a:extLst>
            </p:cNvPr>
            <p:cNvSpPr txBox="1"/>
            <p:nvPr/>
          </p:nvSpPr>
          <p:spPr>
            <a:xfrm>
              <a:off x="365761" y="4185116"/>
              <a:ext cx="1819655" cy="819486"/>
            </a:xfrm>
            <a:prstGeom prst="rect">
              <a:avLst/>
            </a:prstGeom>
            <a:noFill/>
          </p:spPr>
          <p:txBody>
            <a:bodyPr wrap="square" anchor="ctr">
              <a:spAutoFit/>
            </a:bodyPr>
            <a:lstStyle/>
            <a:p>
              <a:pPr algn="l"/>
              <a:r>
                <a:rPr sz="800" b="1">
                  <a:solidFill>
                    <a:srgbClr val="192C34"/>
                  </a:solidFill>
                  <a:latin typeface="+mj-lt"/>
                </a:rPr>
                <a:t>How smart is the matching?</a:t>
              </a:r>
            </a:p>
          </p:txBody>
        </p:sp>
        <p:sp>
          <p:nvSpPr>
            <p:cNvPr id="17489" name="Rectangle 17488">
              <a:extLst>
                <a:ext uri="{FF2B5EF4-FFF2-40B4-BE49-F238E27FC236}">
                  <a16:creationId xmlns:a16="http://schemas.microsoft.com/office/drawing/2014/main" id="{60F4FF0E-9F16-FE7E-BD36-694665F766D9}"/>
                </a:ext>
              </a:extLst>
            </p:cNvPr>
            <p:cNvSpPr/>
            <p:nvPr/>
          </p:nvSpPr>
          <p:spPr>
            <a:xfrm>
              <a:off x="2304287" y="4352544"/>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91" name="TextBox 17490">
              <a:extLst>
                <a:ext uri="{FF2B5EF4-FFF2-40B4-BE49-F238E27FC236}">
                  <a16:creationId xmlns:a16="http://schemas.microsoft.com/office/drawing/2014/main" id="{CBD5FB59-E2F6-9E44-F7EB-30ABEF4C5199}"/>
                </a:ext>
              </a:extLst>
            </p:cNvPr>
            <p:cNvSpPr txBox="1"/>
            <p:nvPr/>
          </p:nvSpPr>
          <p:spPr>
            <a:xfrm>
              <a:off x="2359150" y="4036119"/>
              <a:ext cx="1766621" cy="1117482"/>
            </a:xfrm>
            <a:prstGeom prst="rect">
              <a:avLst/>
            </a:prstGeom>
            <a:noFill/>
          </p:spPr>
          <p:txBody>
            <a:bodyPr wrap="square" anchor="ctr">
              <a:spAutoFit/>
            </a:bodyPr>
            <a:lstStyle/>
            <a:p>
              <a:pPr algn="ctr"/>
              <a:r>
                <a:rPr sz="800" b="1">
                  <a:solidFill>
                    <a:srgbClr val="192C34"/>
                  </a:solidFill>
                  <a:latin typeface="+mj-lt"/>
                </a:rPr>
                <a:t>AI + skill-based + role-specific</a:t>
              </a:r>
            </a:p>
          </p:txBody>
        </p:sp>
        <p:sp>
          <p:nvSpPr>
            <p:cNvPr id="17493" name="Rectangle 17492">
              <a:extLst>
                <a:ext uri="{FF2B5EF4-FFF2-40B4-BE49-F238E27FC236}">
                  <a16:creationId xmlns:a16="http://schemas.microsoft.com/office/drawing/2014/main" id="{86ECAC15-915C-A8CC-34F7-ECE58AD245CA}"/>
                </a:ext>
              </a:extLst>
            </p:cNvPr>
            <p:cNvSpPr/>
            <p:nvPr/>
          </p:nvSpPr>
          <p:spPr>
            <a:xfrm>
              <a:off x="4226356" y="4352544"/>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95" name="TextBox 17494">
              <a:extLst>
                <a:ext uri="{FF2B5EF4-FFF2-40B4-BE49-F238E27FC236}">
                  <a16:creationId xmlns:a16="http://schemas.microsoft.com/office/drawing/2014/main" id="{3E6725BD-37B8-F228-F090-CBE0BB4BB7A3}"/>
                </a:ext>
              </a:extLst>
            </p:cNvPr>
            <p:cNvSpPr txBox="1"/>
            <p:nvPr/>
          </p:nvSpPr>
          <p:spPr>
            <a:xfrm>
              <a:off x="4281220" y="4185118"/>
              <a:ext cx="1766621" cy="819486"/>
            </a:xfrm>
            <a:prstGeom prst="rect">
              <a:avLst/>
            </a:prstGeom>
            <a:noFill/>
          </p:spPr>
          <p:txBody>
            <a:bodyPr wrap="square" anchor="ctr">
              <a:spAutoFit/>
            </a:bodyPr>
            <a:lstStyle/>
            <a:p>
              <a:pPr algn="ctr"/>
              <a:r>
                <a:rPr sz="800" b="0" dirty="0">
                  <a:solidFill>
                    <a:srgbClr val="5C6970"/>
                  </a:solidFill>
                  <a:latin typeface="+mj-lt"/>
                </a:rPr>
                <a:t>Basic/generalized</a:t>
              </a:r>
            </a:p>
          </p:txBody>
        </p:sp>
        <p:sp>
          <p:nvSpPr>
            <p:cNvPr id="17497" name="Rectangle 17496">
              <a:extLst>
                <a:ext uri="{FF2B5EF4-FFF2-40B4-BE49-F238E27FC236}">
                  <a16:creationId xmlns:a16="http://schemas.microsoft.com/office/drawing/2014/main" id="{66E77F58-394F-F097-7D5A-D8C4591AEE2A}"/>
                </a:ext>
              </a:extLst>
            </p:cNvPr>
            <p:cNvSpPr/>
            <p:nvPr/>
          </p:nvSpPr>
          <p:spPr>
            <a:xfrm>
              <a:off x="6148425" y="4352544"/>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499" name="TextBox 17498">
              <a:extLst>
                <a:ext uri="{FF2B5EF4-FFF2-40B4-BE49-F238E27FC236}">
                  <a16:creationId xmlns:a16="http://schemas.microsoft.com/office/drawing/2014/main" id="{540A2AF2-7326-CCE3-8730-BE04F2A2DF1B}"/>
                </a:ext>
              </a:extLst>
            </p:cNvPr>
            <p:cNvSpPr txBox="1"/>
            <p:nvPr/>
          </p:nvSpPr>
          <p:spPr>
            <a:xfrm>
              <a:off x="6203289" y="4185118"/>
              <a:ext cx="1766621" cy="819486"/>
            </a:xfrm>
            <a:prstGeom prst="rect">
              <a:avLst/>
            </a:prstGeom>
            <a:noFill/>
          </p:spPr>
          <p:txBody>
            <a:bodyPr wrap="square" anchor="ctr">
              <a:spAutoFit/>
            </a:bodyPr>
            <a:lstStyle/>
            <a:p>
              <a:pPr algn="ctr"/>
              <a:r>
                <a:rPr sz="800" b="0">
                  <a:solidFill>
                    <a:srgbClr val="5C6970"/>
                  </a:solidFill>
                  <a:latin typeface="+mj-lt"/>
                </a:rPr>
                <a:t>Generic job matching</a:t>
              </a:r>
            </a:p>
          </p:txBody>
        </p:sp>
        <p:sp>
          <p:nvSpPr>
            <p:cNvPr id="17501" name="Rectangle 17500">
              <a:extLst>
                <a:ext uri="{FF2B5EF4-FFF2-40B4-BE49-F238E27FC236}">
                  <a16:creationId xmlns:a16="http://schemas.microsoft.com/office/drawing/2014/main" id="{CC027A30-CEAB-8206-79E6-A77713807584}"/>
                </a:ext>
              </a:extLst>
            </p:cNvPr>
            <p:cNvSpPr/>
            <p:nvPr/>
          </p:nvSpPr>
          <p:spPr>
            <a:xfrm>
              <a:off x="8070494" y="4352544"/>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03" name="TextBox 17502">
              <a:extLst>
                <a:ext uri="{FF2B5EF4-FFF2-40B4-BE49-F238E27FC236}">
                  <a16:creationId xmlns:a16="http://schemas.microsoft.com/office/drawing/2014/main" id="{274B20CA-3568-EF13-DBE2-7F989738B9B3}"/>
                </a:ext>
              </a:extLst>
            </p:cNvPr>
            <p:cNvSpPr txBox="1"/>
            <p:nvPr/>
          </p:nvSpPr>
          <p:spPr>
            <a:xfrm>
              <a:off x="8125359" y="4334115"/>
              <a:ext cx="1766621" cy="521492"/>
            </a:xfrm>
            <a:prstGeom prst="rect">
              <a:avLst/>
            </a:prstGeom>
            <a:noFill/>
          </p:spPr>
          <p:txBody>
            <a:bodyPr wrap="square" anchor="ctr">
              <a:spAutoFit/>
            </a:bodyPr>
            <a:lstStyle/>
            <a:p>
              <a:pPr algn="ctr"/>
              <a:r>
                <a:rPr sz="800" b="0">
                  <a:solidFill>
                    <a:srgbClr val="5C6970"/>
                  </a:solidFill>
                  <a:latin typeface="+mj-lt"/>
                </a:rPr>
                <a:t>Interest-based</a:t>
              </a:r>
            </a:p>
          </p:txBody>
        </p:sp>
        <p:sp>
          <p:nvSpPr>
            <p:cNvPr id="17505" name="Rectangle 17504">
              <a:extLst>
                <a:ext uri="{FF2B5EF4-FFF2-40B4-BE49-F238E27FC236}">
                  <a16:creationId xmlns:a16="http://schemas.microsoft.com/office/drawing/2014/main" id="{F78AE7EC-529A-23E7-8017-32282CEBDA86}"/>
                </a:ext>
              </a:extLst>
            </p:cNvPr>
            <p:cNvSpPr/>
            <p:nvPr/>
          </p:nvSpPr>
          <p:spPr>
            <a:xfrm>
              <a:off x="9992563" y="4352544"/>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07" name="TextBox 17506">
              <a:extLst>
                <a:ext uri="{FF2B5EF4-FFF2-40B4-BE49-F238E27FC236}">
                  <a16:creationId xmlns:a16="http://schemas.microsoft.com/office/drawing/2014/main" id="{2F97D960-DF21-F2F9-0703-17B47442371C}"/>
                </a:ext>
              </a:extLst>
            </p:cNvPr>
            <p:cNvSpPr txBox="1"/>
            <p:nvPr/>
          </p:nvSpPr>
          <p:spPr>
            <a:xfrm>
              <a:off x="10047426" y="4185118"/>
              <a:ext cx="1766621" cy="819486"/>
            </a:xfrm>
            <a:prstGeom prst="rect">
              <a:avLst/>
            </a:prstGeom>
            <a:noFill/>
          </p:spPr>
          <p:txBody>
            <a:bodyPr wrap="square" anchor="ctr">
              <a:spAutoFit/>
            </a:bodyPr>
            <a:lstStyle/>
            <a:p>
              <a:pPr algn="ctr"/>
              <a:r>
                <a:rPr sz="800" b="0">
                  <a:solidFill>
                    <a:srgbClr val="5C6970"/>
                  </a:solidFill>
                  <a:latin typeface="+mj-lt"/>
                </a:rPr>
                <a:t>General listings</a:t>
              </a:r>
            </a:p>
          </p:txBody>
        </p:sp>
        <p:sp>
          <p:nvSpPr>
            <p:cNvPr id="17509" name="Rectangle 17508">
              <a:extLst>
                <a:ext uri="{FF2B5EF4-FFF2-40B4-BE49-F238E27FC236}">
                  <a16:creationId xmlns:a16="http://schemas.microsoft.com/office/drawing/2014/main" id="{16B47CCC-79E7-5638-8942-1A5BBBAA67B3}"/>
                </a:ext>
              </a:extLst>
            </p:cNvPr>
            <p:cNvSpPr/>
            <p:nvPr/>
          </p:nvSpPr>
          <p:spPr>
            <a:xfrm>
              <a:off x="292608" y="4873752"/>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11" name="TextBox 17510">
              <a:extLst>
                <a:ext uri="{FF2B5EF4-FFF2-40B4-BE49-F238E27FC236}">
                  <a16:creationId xmlns:a16="http://schemas.microsoft.com/office/drawing/2014/main" id="{741E409B-CA94-B74F-F5BE-E973C79C8DA7}"/>
                </a:ext>
              </a:extLst>
            </p:cNvPr>
            <p:cNvSpPr txBox="1"/>
            <p:nvPr/>
          </p:nvSpPr>
          <p:spPr>
            <a:xfrm>
              <a:off x="365761" y="4557328"/>
              <a:ext cx="1819655" cy="1117482"/>
            </a:xfrm>
            <a:prstGeom prst="rect">
              <a:avLst/>
            </a:prstGeom>
            <a:noFill/>
          </p:spPr>
          <p:txBody>
            <a:bodyPr wrap="square" anchor="ctr">
              <a:spAutoFit/>
            </a:bodyPr>
            <a:lstStyle/>
            <a:p>
              <a:pPr algn="l"/>
              <a:r>
                <a:rPr sz="800" b="1">
                  <a:solidFill>
                    <a:srgbClr val="192C34"/>
                  </a:solidFill>
                  <a:latin typeface="+mj-lt"/>
                </a:rPr>
                <a:t>Is there one career journey?</a:t>
              </a:r>
            </a:p>
          </p:txBody>
        </p:sp>
        <p:sp>
          <p:nvSpPr>
            <p:cNvPr id="17513" name="Rectangle 17512">
              <a:extLst>
                <a:ext uri="{FF2B5EF4-FFF2-40B4-BE49-F238E27FC236}">
                  <a16:creationId xmlns:a16="http://schemas.microsoft.com/office/drawing/2014/main" id="{BE8A3832-9335-09DB-C408-F49EFA5D26F0}"/>
                </a:ext>
              </a:extLst>
            </p:cNvPr>
            <p:cNvSpPr/>
            <p:nvPr/>
          </p:nvSpPr>
          <p:spPr>
            <a:xfrm>
              <a:off x="2304287" y="4873752"/>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15" name="TextBox 17514">
              <a:extLst>
                <a:ext uri="{FF2B5EF4-FFF2-40B4-BE49-F238E27FC236}">
                  <a16:creationId xmlns:a16="http://schemas.microsoft.com/office/drawing/2014/main" id="{748FBE98-E910-E761-9DDC-66E078F4B459}"/>
                </a:ext>
              </a:extLst>
            </p:cNvPr>
            <p:cNvSpPr txBox="1"/>
            <p:nvPr/>
          </p:nvSpPr>
          <p:spPr>
            <a:xfrm>
              <a:off x="2359150" y="4408332"/>
              <a:ext cx="1766621" cy="1415476"/>
            </a:xfrm>
            <a:prstGeom prst="rect">
              <a:avLst/>
            </a:prstGeom>
            <a:noFill/>
          </p:spPr>
          <p:txBody>
            <a:bodyPr wrap="square" anchor="ctr">
              <a:spAutoFit/>
            </a:bodyPr>
            <a:lstStyle/>
            <a:p>
              <a:pPr algn="ctr"/>
              <a:r>
                <a:rPr sz="800" b="1">
                  <a:solidFill>
                    <a:srgbClr val="192C34"/>
                  </a:solidFill>
                  <a:latin typeface="+mj-lt"/>
                </a:rPr>
                <a:t>Assess → Learn → Reassess → Apply</a:t>
              </a:r>
            </a:p>
          </p:txBody>
        </p:sp>
        <p:sp>
          <p:nvSpPr>
            <p:cNvPr id="17517" name="Rectangle 17516">
              <a:extLst>
                <a:ext uri="{FF2B5EF4-FFF2-40B4-BE49-F238E27FC236}">
                  <a16:creationId xmlns:a16="http://schemas.microsoft.com/office/drawing/2014/main" id="{D6AC5A96-0248-9147-6204-9DAB7CDAB58D}"/>
                </a:ext>
              </a:extLst>
            </p:cNvPr>
            <p:cNvSpPr/>
            <p:nvPr/>
          </p:nvSpPr>
          <p:spPr>
            <a:xfrm>
              <a:off x="4226356" y="487375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19" name="TextBox 17518">
              <a:extLst>
                <a:ext uri="{FF2B5EF4-FFF2-40B4-BE49-F238E27FC236}">
                  <a16:creationId xmlns:a16="http://schemas.microsoft.com/office/drawing/2014/main" id="{FF131C5C-4993-4E50-E384-22ACE8EC221E}"/>
                </a:ext>
              </a:extLst>
            </p:cNvPr>
            <p:cNvSpPr txBox="1"/>
            <p:nvPr/>
          </p:nvSpPr>
          <p:spPr>
            <a:xfrm>
              <a:off x="4281220" y="4855324"/>
              <a:ext cx="1766621" cy="521492"/>
            </a:xfrm>
            <a:prstGeom prst="rect">
              <a:avLst/>
            </a:prstGeom>
            <a:noFill/>
          </p:spPr>
          <p:txBody>
            <a:bodyPr wrap="square" anchor="ctr">
              <a:spAutoFit/>
            </a:bodyPr>
            <a:lstStyle/>
            <a:p>
              <a:pPr algn="ctr"/>
              <a:r>
                <a:rPr sz="800" b="0">
                  <a:solidFill>
                    <a:srgbClr val="5C6970"/>
                  </a:solidFill>
                  <a:latin typeface="+mj-lt"/>
                </a:rPr>
                <a:t>Partial profile</a:t>
              </a:r>
            </a:p>
          </p:txBody>
        </p:sp>
        <p:sp>
          <p:nvSpPr>
            <p:cNvPr id="17521" name="Rectangle 17520">
              <a:extLst>
                <a:ext uri="{FF2B5EF4-FFF2-40B4-BE49-F238E27FC236}">
                  <a16:creationId xmlns:a16="http://schemas.microsoft.com/office/drawing/2014/main" id="{FAA844B0-45E8-F9A0-5BCB-DDD1C3F97581}"/>
                </a:ext>
              </a:extLst>
            </p:cNvPr>
            <p:cNvSpPr/>
            <p:nvPr/>
          </p:nvSpPr>
          <p:spPr>
            <a:xfrm>
              <a:off x="6148425" y="487375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23" name="TextBox 17522">
              <a:extLst>
                <a:ext uri="{FF2B5EF4-FFF2-40B4-BE49-F238E27FC236}">
                  <a16:creationId xmlns:a16="http://schemas.microsoft.com/office/drawing/2014/main" id="{27A70101-3BE7-FB02-783E-0A9D069F8B13}"/>
                </a:ext>
              </a:extLst>
            </p:cNvPr>
            <p:cNvSpPr txBox="1"/>
            <p:nvPr/>
          </p:nvSpPr>
          <p:spPr>
            <a:xfrm>
              <a:off x="6203289" y="4706328"/>
              <a:ext cx="1766621" cy="819486"/>
            </a:xfrm>
            <a:prstGeom prst="rect">
              <a:avLst/>
            </a:prstGeom>
            <a:noFill/>
          </p:spPr>
          <p:txBody>
            <a:bodyPr wrap="square" anchor="ctr">
              <a:spAutoFit/>
            </a:bodyPr>
            <a:lstStyle/>
            <a:p>
              <a:pPr algn="ctr"/>
              <a:r>
                <a:rPr sz="800" b="0">
                  <a:solidFill>
                    <a:srgbClr val="5C6970"/>
                  </a:solidFill>
                  <a:latin typeface="+mj-lt"/>
                </a:rPr>
                <a:t>No integrated journey</a:t>
              </a:r>
            </a:p>
          </p:txBody>
        </p:sp>
        <p:sp>
          <p:nvSpPr>
            <p:cNvPr id="17525" name="Rectangle 17524">
              <a:extLst>
                <a:ext uri="{FF2B5EF4-FFF2-40B4-BE49-F238E27FC236}">
                  <a16:creationId xmlns:a16="http://schemas.microsoft.com/office/drawing/2014/main" id="{B9A3874C-4F8F-35EE-16A8-525CCB216B1A}"/>
                </a:ext>
              </a:extLst>
            </p:cNvPr>
            <p:cNvSpPr/>
            <p:nvPr/>
          </p:nvSpPr>
          <p:spPr>
            <a:xfrm>
              <a:off x="8070494" y="487375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27" name="TextBox 17526">
              <a:extLst>
                <a:ext uri="{FF2B5EF4-FFF2-40B4-BE49-F238E27FC236}">
                  <a16:creationId xmlns:a16="http://schemas.microsoft.com/office/drawing/2014/main" id="{8BEB3A9E-6E39-D054-B5EF-52289EABF832}"/>
                </a:ext>
              </a:extLst>
            </p:cNvPr>
            <p:cNvSpPr txBox="1"/>
            <p:nvPr/>
          </p:nvSpPr>
          <p:spPr>
            <a:xfrm>
              <a:off x="8125359" y="4706328"/>
              <a:ext cx="1766621" cy="819486"/>
            </a:xfrm>
            <a:prstGeom prst="rect">
              <a:avLst/>
            </a:prstGeom>
            <a:noFill/>
          </p:spPr>
          <p:txBody>
            <a:bodyPr wrap="square" anchor="ctr">
              <a:spAutoFit/>
            </a:bodyPr>
            <a:lstStyle/>
            <a:p>
              <a:pPr algn="ctr"/>
              <a:r>
                <a:rPr sz="800" b="0">
                  <a:solidFill>
                    <a:srgbClr val="5C6970"/>
                  </a:solidFill>
                  <a:latin typeface="+mj-lt"/>
                </a:rPr>
                <a:t>Learning history</a:t>
              </a:r>
            </a:p>
          </p:txBody>
        </p:sp>
        <p:sp>
          <p:nvSpPr>
            <p:cNvPr id="17529" name="Rectangle 17528">
              <a:extLst>
                <a:ext uri="{FF2B5EF4-FFF2-40B4-BE49-F238E27FC236}">
                  <a16:creationId xmlns:a16="http://schemas.microsoft.com/office/drawing/2014/main" id="{DAC5DD30-00CB-C049-FA44-2659E439AEDB}"/>
                </a:ext>
              </a:extLst>
            </p:cNvPr>
            <p:cNvSpPr/>
            <p:nvPr/>
          </p:nvSpPr>
          <p:spPr>
            <a:xfrm>
              <a:off x="9992563" y="4873752"/>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31" name="TextBox 17530">
              <a:extLst>
                <a:ext uri="{FF2B5EF4-FFF2-40B4-BE49-F238E27FC236}">
                  <a16:creationId xmlns:a16="http://schemas.microsoft.com/office/drawing/2014/main" id="{A85E8427-002A-3AFB-C922-47BDCCC23EBE}"/>
                </a:ext>
              </a:extLst>
            </p:cNvPr>
            <p:cNvSpPr txBox="1"/>
            <p:nvPr/>
          </p:nvSpPr>
          <p:spPr>
            <a:xfrm>
              <a:off x="10047426" y="4706328"/>
              <a:ext cx="1766621" cy="819486"/>
            </a:xfrm>
            <a:prstGeom prst="rect">
              <a:avLst/>
            </a:prstGeom>
            <a:noFill/>
          </p:spPr>
          <p:txBody>
            <a:bodyPr wrap="square" anchor="ctr">
              <a:spAutoFit/>
            </a:bodyPr>
            <a:lstStyle/>
            <a:p>
              <a:pPr algn="ctr"/>
              <a:r>
                <a:rPr sz="800" b="0">
                  <a:solidFill>
                    <a:srgbClr val="5C6970"/>
                  </a:solidFill>
                  <a:latin typeface="+mj-lt"/>
                </a:rPr>
                <a:t>No integrated profile</a:t>
              </a:r>
            </a:p>
          </p:txBody>
        </p:sp>
        <p:sp>
          <p:nvSpPr>
            <p:cNvPr id="17533" name="Rectangle 17532">
              <a:extLst>
                <a:ext uri="{FF2B5EF4-FFF2-40B4-BE49-F238E27FC236}">
                  <a16:creationId xmlns:a16="http://schemas.microsoft.com/office/drawing/2014/main" id="{A9161928-CC8A-F761-733C-EF8D0FF8770E}"/>
                </a:ext>
              </a:extLst>
            </p:cNvPr>
            <p:cNvSpPr/>
            <p:nvPr/>
          </p:nvSpPr>
          <p:spPr>
            <a:xfrm>
              <a:off x="292608" y="5394960"/>
              <a:ext cx="1965960"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35" name="TextBox 17534">
              <a:extLst>
                <a:ext uri="{FF2B5EF4-FFF2-40B4-BE49-F238E27FC236}">
                  <a16:creationId xmlns:a16="http://schemas.microsoft.com/office/drawing/2014/main" id="{13B70465-8795-1F19-F209-FE51B1145C1E}"/>
                </a:ext>
              </a:extLst>
            </p:cNvPr>
            <p:cNvSpPr txBox="1"/>
            <p:nvPr/>
          </p:nvSpPr>
          <p:spPr>
            <a:xfrm>
              <a:off x="365761" y="4929538"/>
              <a:ext cx="1819655" cy="1415476"/>
            </a:xfrm>
            <a:prstGeom prst="rect">
              <a:avLst/>
            </a:prstGeom>
            <a:noFill/>
          </p:spPr>
          <p:txBody>
            <a:bodyPr wrap="square" anchor="ctr">
              <a:spAutoFit/>
            </a:bodyPr>
            <a:lstStyle/>
            <a:p>
              <a:pPr algn="l"/>
              <a:r>
                <a:rPr sz="800" b="1">
                  <a:solidFill>
                    <a:srgbClr val="192C34"/>
                  </a:solidFill>
                  <a:latin typeface="+mj-lt"/>
                </a:rPr>
                <a:t>Built around India’s education ecosystem?</a:t>
              </a:r>
            </a:p>
          </p:txBody>
        </p:sp>
        <p:sp>
          <p:nvSpPr>
            <p:cNvPr id="17537" name="Rectangle 17536">
              <a:extLst>
                <a:ext uri="{FF2B5EF4-FFF2-40B4-BE49-F238E27FC236}">
                  <a16:creationId xmlns:a16="http://schemas.microsoft.com/office/drawing/2014/main" id="{E086FE85-5CF9-4387-3BE6-74F1E5FC9AA4}"/>
                </a:ext>
              </a:extLst>
            </p:cNvPr>
            <p:cNvSpPr/>
            <p:nvPr/>
          </p:nvSpPr>
          <p:spPr>
            <a:xfrm>
              <a:off x="2304287" y="5394960"/>
              <a:ext cx="1876348" cy="484631"/>
            </a:xfrm>
            <a:prstGeom prst="rect">
              <a:avLst/>
            </a:prstGeom>
            <a:solidFill>
              <a:srgbClr val="BEE197"/>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39" name="TextBox 17538">
              <a:extLst>
                <a:ext uri="{FF2B5EF4-FFF2-40B4-BE49-F238E27FC236}">
                  <a16:creationId xmlns:a16="http://schemas.microsoft.com/office/drawing/2014/main" id="{130A393A-9F4C-B6B2-D6C4-3633C65B9FD7}"/>
                </a:ext>
              </a:extLst>
            </p:cNvPr>
            <p:cNvSpPr txBox="1"/>
            <p:nvPr/>
          </p:nvSpPr>
          <p:spPr>
            <a:xfrm>
              <a:off x="2359150" y="5376531"/>
              <a:ext cx="1766621" cy="521492"/>
            </a:xfrm>
            <a:prstGeom prst="rect">
              <a:avLst/>
            </a:prstGeom>
            <a:noFill/>
          </p:spPr>
          <p:txBody>
            <a:bodyPr wrap="square" anchor="ctr">
              <a:spAutoFit/>
            </a:bodyPr>
            <a:lstStyle/>
            <a:p>
              <a:pPr algn="ctr"/>
              <a:r>
                <a:rPr sz="800" b="1">
                  <a:solidFill>
                    <a:srgbClr val="192C34"/>
                  </a:solidFill>
                  <a:latin typeface="+mj-lt"/>
                </a:rPr>
                <a:t>Yes</a:t>
              </a:r>
            </a:p>
          </p:txBody>
        </p:sp>
        <p:sp>
          <p:nvSpPr>
            <p:cNvPr id="17541" name="Rectangle 17540">
              <a:extLst>
                <a:ext uri="{FF2B5EF4-FFF2-40B4-BE49-F238E27FC236}">
                  <a16:creationId xmlns:a16="http://schemas.microsoft.com/office/drawing/2014/main" id="{8B748885-2813-9F03-2625-D925961FA7C6}"/>
                </a:ext>
              </a:extLst>
            </p:cNvPr>
            <p:cNvSpPr/>
            <p:nvPr/>
          </p:nvSpPr>
          <p:spPr>
            <a:xfrm>
              <a:off x="4226356" y="539496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43" name="TextBox 17542">
              <a:extLst>
                <a:ext uri="{FF2B5EF4-FFF2-40B4-BE49-F238E27FC236}">
                  <a16:creationId xmlns:a16="http://schemas.microsoft.com/office/drawing/2014/main" id="{2C0071B3-E972-0F74-4DA7-495026980E32}"/>
                </a:ext>
              </a:extLst>
            </p:cNvPr>
            <p:cNvSpPr txBox="1"/>
            <p:nvPr/>
          </p:nvSpPr>
          <p:spPr>
            <a:xfrm>
              <a:off x="4281220" y="5227534"/>
              <a:ext cx="1766621" cy="819486"/>
            </a:xfrm>
            <a:prstGeom prst="rect">
              <a:avLst/>
            </a:prstGeom>
            <a:noFill/>
          </p:spPr>
          <p:txBody>
            <a:bodyPr wrap="square" anchor="ctr">
              <a:spAutoFit/>
            </a:bodyPr>
            <a:lstStyle/>
            <a:p>
              <a:pPr algn="ctr"/>
              <a:r>
                <a:rPr sz="800" b="0">
                  <a:solidFill>
                    <a:srgbClr val="5C6970"/>
                  </a:solidFill>
                  <a:latin typeface="+mj-lt"/>
                </a:rPr>
                <a:t>Not specifically</a:t>
              </a:r>
            </a:p>
          </p:txBody>
        </p:sp>
        <p:sp>
          <p:nvSpPr>
            <p:cNvPr id="17545" name="Rectangle 17544">
              <a:extLst>
                <a:ext uri="{FF2B5EF4-FFF2-40B4-BE49-F238E27FC236}">
                  <a16:creationId xmlns:a16="http://schemas.microsoft.com/office/drawing/2014/main" id="{EC8932CC-59B8-AB01-DEB5-ECF86651B782}"/>
                </a:ext>
              </a:extLst>
            </p:cNvPr>
            <p:cNvSpPr/>
            <p:nvPr/>
          </p:nvSpPr>
          <p:spPr>
            <a:xfrm>
              <a:off x="6148425" y="539496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47" name="TextBox 17546">
              <a:extLst>
                <a:ext uri="{FF2B5EF4-FFF2-40B4-BE49-F238E27FC236}">
                  <a16:creationId xmlns:a16="http://schemas.microsoft.com/office/drawing/2014/main" id="{38CB7BED-D5BB-ED91-59F9-E4D4F4A12A05}"/>
                </a:ext>
              </a:extLst>
            </p:cNvPr>
            <p:cNvSpPr txBox="1"/>
            <p:nvPr/>
          </p:nvSpPr>
          <p:spPr>
            <a:xfrm>
              <a:off x="6203289" y="5227534"/>
              <a:ext cx="1766621" cy="819486"/>
            </a:xfrm>
            <a:prstGeom prst="rect">
              <a:avLst/>
            </a:prstGeom>
            <a:noFill/>
          </p:spPr>
          <p:txBody>
            <a:bodyPr wrap="square" anchor="ctr">
              <a:spAutoFit/>
            </a:bodyPr>
            <a:lstStyle/>
            <a:p>
              <a:pPr algn="ctr"/>
              <a:r>
                <a:rPr sz="800" b="0">
                  <a:solidFill>
                    <a:srgbClr val="5C6970"/>
                  </a:solidFill>
                  <a:latin typeface="+mj-lt"/>
                </a:rPr>
                <a:t>Not specifically</a:t>
              </a:r>
            </a:p>
          </p:txBody>
        </p:sp>
        <p:sp>
          <p:nvSpPr>
            <p:cNvPr id="17549" name="Rectangle 17548">
              <a:extLst>
                <a:ext uri="{FF2B5EF4-FFF2-40B4-BE49-F238E27FC236}">
                  <a16:creationId xmlns:a16="http://schemas.microsoft.com/office/drawing/2014/main" id="{EC6CD29E-6D64-CED4-007E-0DAF0B4CC481}"/>
                </a:ext>
              </a:extLst>
            </p:cNvPr>
            <p:cNvSpPr/>
            <p:nvPr/>
          </p:nvSpPr>
          <p:spPr>
            <a:xfrm>
              <a:off x="8070494" y="539496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51" name="TextBox 17550">
              <a:extLst>
                <a:ext uri="{FF2B5EF4-FFF2-40B4-BE49-F238E27FC236}">
                  <a16:creationId xmlns:a16="http://schemas.microsoft.com/office/drawing/2014/main" id="{E4CC86A3-4E0C-E904-178A-B84207C318F9}"/>
                </a:ext>
              </a:extLst>
            </p:cNvPr>
            <p:cNvSpPr txBox="1"/>
            <p:nvPr/>
          </p:nvSpPr>
          <p:spPr>
            <a:xfrm>
              <a:off x="8125359" y="5227534"/>
              <a:ext cx="1766621" cy="819486"/>
            </a:xfrm>
            <a:prstGeom prst="rect">
              <a:avLst/>
            </a:prstGeom>
            <a:noFill/>
          </p:spPr>
          <p:txBody>
            <a:bodyPr wrap="square" anchor="ctr">
              <a:spAutoFit/>
            </a:bodyPr>
            <a:lstStyle/>
            <a:p>
              <a:pPr algn="ctr"/>
              <a:r>
                <a:rPr sz="800" b="0" dirty="0">
                  <a:solidFill>
                    <a:srgbClr val="5C6970"/>
                  </a:solidFill>
                  <a:latin typeface="+mj-lt"/>
                </a:rPr>
                <a:t>Not specifically</a:t>
              </a:r>
            </a:p>
          </p:txBody>
        </p:sp>
        <p:sp>
          <p:nvSpPr>
            <p:cNvPr id="17553" name="Rectangle 17552">
              <a:extLst>
                <a:ext uri="{FF2B5EF4-FFF2-40B4-BE49-F238E27FC236}">
                  <a16:creationId xmlns:a16="http://schemas.microsoft.com/office/drawing/2014/main" id="{9F033A44-6CA1-8E8C-A753-EFD1DDF9725C}"/>
                </a:ext>
              </a:extLst>
            </p:cNvPr>
            <p:cNvSpPr/>
            <p:nvPr/>
          </p:nvSpPr>
          <p:spPr>
            <a:xfrm>
              <a:off x="9992563" y="5394960"/>
              <a:ext cx="1876348" cy="484631"/>
            </a:xfrm>
            <a:prstGeom prst="rect">
              <a:avLst/>
            </a:prstGeom>
            <a:solidFill>
              <a:srgbClr val="FFFFFF"/>
            </a:solidFill>
            <a:ln>
              <a:solidFill>
                <a:srgbClr val="BEC2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800">
                <a:latin typeface="+mj-lt"/>
              </a:endParaRPr>
            </a:p>
          </p:txBody>
        </p:sp>
        <p:sp>
          <p:nvSpPr>
            <p:cNvPr id="17555" name="TextBox 17554">
              <a:extLst>
                <a:ext uri="{FF2B5EF4-FFF2-40B4-BE49-F238E27FC236}">
                  <a16:creationId xmlns:a16="http://schemas.microsoft.com/office/drawing/2014/main" id="{175B04F7-D2F1-FA4F-976D-F38839457275}"/>
                </a:ext>
              </a:extLst>
            </p:cNvPr>
            <p:cNvSpPr txBox="1"/>
            <p:nvPr/>
          </p:nvSpPr>
          <p:spPr>
            <a:xfrm>
              <a:off x="10047426" y="5227534"/>
              <a:ext cx="1766621" cy="819486"/>
            </a:xfrm>
            <a:prstGeom prst="rect">
              <a:avLst/>
            </a:prstGeom>
            <a:noFill/>
          </p:spPr>
          <p:txBody>
            <a:bodyPr wrap="square" anchor="ctr">
              <a:spAutoFit/>
            </a:bodyPr>
            <a:lstStyle/>
            <a:p>
              <a:pPr algn="ctr"/>
              <a:r>
                <a:rPr sz="800" b="0">
                  <a:solidFill>
                    <a:srgbClr val="5C6970"/>
                  </a:solidFill>
                  <a:latin typeface="+mj-lt"/>
                </a:rPr>
                <a:t>Not specifically</a:t>
              </a:r>
            </a:p>
          </p:txBody>
        </p:sp>
      </p:grpSp>
      <p:sp>
        <p:nvSpPr>
          <p:cNvPr id="14" name="Oval 13" descr="Your startup LOGO">
            <a:extLst>
              <a:ext uri="{FF2B5EF4-FFF2-40B4-BE49-F238E27FC236}">
                <a16:creationId xmlns:a16="http://schemas.microsoft.com/office/drawing/2014/main" id="{A6186CB7-A308-1211-74EF-8AFDC17D636A}"/>
              </a:ext>
              <a:ext uri="{C183D7F6-B498-43B3-948B-1728B52AA6E4}">
                <adec:decorative xmlns:adec="http://schemas.microsoft.com/office/drawing/2017/decorative" val="0"/>
              </a:ext>
            </a:extLst>
          </p:cNvPr>
          <p:cNvSpPr/>
          <p:nvPr/>
        </p:nvSpPr>
        <p:spPr>
          <a:xfrm>
            <a:off x="329775" y="78651"/>
            <a:ext cx="1361374" cy="64441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b="1" dirty="0">
                <a:latin typeface="Calisto MT" panose="02040603050505030304" pitchFamily="18" charset="0"/>
              </a:rPr>
              <a:t>Code</a:t>
            </a:r>
          </a:p>
          <a:p>
            <a:pPr algn="ctr"/>
            <a:r>
              <a:rPr lang="en-IN" sz="1600" b="1" dirty="0">
                <a:latin typeface="Calisto MT" panose="02040603050505030304" pitchFamily="18" charset="0"/>
              </a:rPr>
              <a:t>Hunters</a:t>
            </a:r>
          </a:p>
        </p:txBody>
      </p:sp>
    </p:spTree>
    <p:extLst>
      <p:ext uri="{BB962C8B-B14F-4D97-AF65-F5344CB8AC3E}">
        <p14:creationId xmlns:p14="http://schemas.microsoft.com/office/powerpoint/2010/main" val="2464442286"/>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mn-lt"/>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4" name="TextBox 3">
            <a:extLst>
              <a:ext uri="{FF2B5EF4-FFF2-40B4-BE49-F238E27FC236}">
                <a16:creationId xmlns:a16="http://schemas.microsoft.com/office/drawing/2014/main" id="{385F2B8C-A6B8-F1E2-7C4E-CB8BF40D39BE}"/>
              </a:ext>
            </a:extLst>
          </p:cNvPr>
          <p:cNvSpPr txBox="1"/>
          <p:nvPr/>
        </p:nvSpPr>
        <p:spPr>
          <a:xfrm>
            <a:off x="117987" y="1314578"/>
            <a:ext cx="5220929" cy="4750237"/>
          </a:xfrm>
          <a:prstGeom prst="roundRect">
            <a:avLst/>
          </a:prstGeom>
          <a:solidFill>
            <a:schemeClr val="bg1">
              <a:lumMod val="95000"/>
            </a:schemeClr>
          </a:solidFill>
          <a:ln>
            <a:solidFill>
              <a:schemeClr val="tx1">
                <a:lumMod val="50000"/>
                <a:lumOff val="50000"/>
              </a:schemeClr>
            </a:solidFill>
          </a:ln>
        </p:spPr>
        <p:txBody>
          <a:bodyPr wrap="square" rtlCol="0">
            <a:spAutoFit/>
          </a:bodyPr>
          <a:lstStyle/>
          <a:p>
            <a:pPr marL="400050" indent="-400050">
              <a:buFont typeface="+mj-lt"/>
              <a:buAutoNum type="romanUcPeriod"/>
            </a:pPr>
            <a:r>
              <a:rPr lang="en-IN" sz="1050" b="1" dirty="0"/>
              <a:t>World Economic Forum — Future of Jobs Report 2025</a:t>
            </a:r>
            <a:r>
              <a:rPr lang="en-IN" sz="1050" dirty="0"/>
              <a:t> — Global evidence on changing skill requirements, employer skill gaps, and the need for upskilling. </a:t>
            </a:r>
            <a:r>
              <a:rPr lang="en-IN" sz="1050" dirty="0">
                <a:hlinkClick r:id="rId4"/>
              </a:rPr>
              <a:t>WEF Report</a:t>
            </a:r>
            <a:endParaRPr lang="en-IN" sz="1050" dirty="0"/>
          </a:p>
          <a:p>
            <a:pPr marL="400050" indent="-400050">
              <a:buFont typeface="+mj-lt"/>
              <a:buAutoNum type="romanUcPeriod"/>
            </a:pPr>
            <a:endParaRPr lang="en-IN" sz="1050" dirty="0"/>
          </a:p>
          <a:p>
            <a:pPr marL="400050" indent="-400050">
              <a:buFont typeface="+mj-lt"/>
              <a:buAutoNum type="romanUcPeriod"/>
            </a:pPr>
            <a:r>
              <a:rPr lang="en-IN" sz="1050" b="1" dirty="0"/>
              <a:t>NITI Aayog — Reimagining Skilling for Viksit Bharat@2047 (2026)</a:t>
            </a:r>
            <a:r>
              <a:rPr lang="en-IN" sz="1050" dirty="0"/>
              <a:t> — India-focused research on skill development, employability, and future-readiness. </a:t>
            </a:r>
            <a:r>
              <a:rPr lang="en-IN" sz="1050" dirty="0">
                <a:hlinkClick r:id="rId5"/>
              </a:rPr>
              <a:t>NITI Aayog Report</a:t>
            </a:r>
            <a:endParaRPr lang="en-IN" sz="1050" dirty="0"/>
          </a:p>
          <a:p>
            <a:pPr marL="400050" indent="-400050">
              <a:buFont typeface="+mj-lt"/>
              <a:buAutoNum type="romanUcPeriod"/>
            </a:pPr>
            <a:endParaRPr lang="en-IN" sz="1050" dirty="0"/>
          </a:p>
          <a:p>
            <a:pPr marL="400050" indent="-400050">
              <a:buFont typeface="+mj-lt"/>
              <a:buAutoNum type="romanUcPeriod"/>
            </a:pPr>
            <a:r>
              <a:rPr lang="en-IN" sz="1050" b="1" dirty="0"/>
              <a:t>Understanding and Measuring Skill Gaps in Industry 4.0 — Technology Forecasting &amp; Social Change (2024)</a:t>
            </a:r>
            <a:r>
              <a:rPr lang="en-IN" sz="1050" dirty="0"/>
              <a:t> — Systematic review of approaches for identifying and measuring skill gaps across stakeholders. </a:t>
            </a:r>
            <a:r>
              <a:rPr lang="en-IN" sz="1050" dirty="0">
                <a:hlinkClick r:id="rId6"/>
              </a:rPr>
              <a:t>Research Paper</a:t>
            </a:r>
            <a:endParaRPr lang="en-IN" sz="1050" dirty="0"/>
          </a:p>
          <a:p>
            <a:pPr marL="400050" indent="-400050">
              <a:buFont typeface="+mj-lt"/>
              <a:buAutoNum type="romanUcPeriod"/>
            </a:pPr>
            <a:endParaRPr lang="en-IN" sz="1050" dirty="0"/>
          </a:p>
          <a:p>
            <a:pPr marL="400050" indent="-400050">
              <a:buFont typeface="+mj-lt"/>
              <a:buAutoNum type="romanUcPeriod"/>
            </a:pPr>
            <a:r>
              <a:rPr lang="en-IN" sz="1050" b="1" dirty="0"/>
              <a:t>A Survey on Artificial Intelligence Based Job Recommendation Systems — IEEE (2023)</a:t>
            </a:r>
            <a:r>
              <a:rPr lang="en-IN" sz="1050" dirty="0"/>
              <a:t> — Research on AI-based job matching using skills, experience, preferences, machine learning, and knowledge graphs. </a:t>
            </a:r>
            <a:r>
              <a:rPr lang="en-IN" sz="1050" dirty="0">
                <a:hlinkClick r:id="rId7"/>
              </a:rPr>
              <a:t>Research Paper</a:t>
            </a:r>
            <a:endParaRPr lang="en-IN" sz="1050" dirty="0"/>
          </a:p>
          <a:p>
            <a:pPr marL="400050" indent="-400050">
              <a:buFont typeface="+mj-lt"/>
              <a:buAutoNum type="romanUcPeriod"/>
            </a:pPr>
            <a:endParaRPr lang="en-IN" sz="1050" dirty="0"/>
          </a:p>
          <a:p>
            <a:pPr marL="400050" indent="-400050">
              <a:buFont typeface="+mj-lt"/>
              <a:buAutoNum type="romanUcPeriod"/>
            </a:pPr>
            <a:r>
              <a:rPr lang="en-IN" sz="1050" b="1" dirty="0"/>
              <a:t>NITI Aayog — Revitalizing India’s Apprenticeship Ecosystem (2026)</a:t>
            </a:r>
            <a:r>
              <a:rPr lang="en-IN" sz="1050" dirty="0"/>
              <a:t> — Supports the importance of apprenticeships and stronger connections between skills development and employment. </a:t>
            </a:r>
            <a:r>
              <a:rPr lang="en-IN" sz="1050" dirty="0">
                <a:hlinkClick r:id="rId8"/>
              </a:rPr>
              <a:t>NITI Aayog Apprenticeship Report</a:t>
            </a:r>
            <a:endParaRPr lang="en-IN" sz="1050" dirty="0"/>
          </a:p>
          <a:p>
            <a:pPr marL="400050" indent="-400050">
              <a:buFont typeface="+mj-lt"/>
              <a:buAutoNum type="romanUcPeriod"/>
            </a:pPr>
            <a:endParaRPr lang="en-IN" sz="1050" dirty="0"/>
          </a:p>
          <a:p>
            <a:pPr marL="400050" indent="-400050">
              <a:buFont typeface="+mj-lt"/>
              <a:buAutoNum type="romanUcPeriod"/>
            </a:pPr>
            <a:r>
              <a:rPr lang="en-IN" sz="1050" b="1" dirty="0"/>
              <a:t>Global Employability Skills in the 21st Century Workplace — </a:t>
            </a:r>
            <a:r>
              <a:rPr lang="en-IN" sz="1050" b="1" dirty="0" err="1"/>
              <a:t>Heliyon</a:t>
            </a:r>
            <a:r>
              <a:rPr lang="en-IN" sz="1050" b="1" dirty="0"/>
              <a:t> (2023)</a:t>
            </a:r>
            <a:r>
              <a:rPr lang="en-IN" sz="1050" dirty="0"/>
              <a:t> — Literature review identifying commonly demanded employability skills and the mismatch between employer expectations and graduate skills. </a:t>
            </a:r>
            <a:r>
              <a:rPr lang="en-IN" sz="1050" dirty="0">
                <a:hlinkClick r:id="rId9"/>
              </a:rPr>
              <a:t>Research Paper</a:t>
            </a:r>
            <a:endParaRPr lang="en-IN" sz="1050" dirty="0"/>
          </a:p>
          <a:p>
            <a:pPr marL="400050" indent="-400050">
              <a:buFont typeface="+mj-lt"/>
              <a:buAutoNum type="romanUcPeriod"/>
            </a:pPr>
            <a:endParaRPr lang="en-IN" sz="1050" dirty="0"/>
          </a:p>
        </p:txBody>
      </p:sp>
      <p:sp>
        <p:nvSpPr>
          <p:cNvPr id="8" name="TextBox 7">
            <a:extLst>
              <a:ext uri="{FF2B5EF4-FFF2-40B4-BE49-F238E27FC236}">
                <a16:creationId xmlns:a16="http://schemas.microsoft.com/office/drawing/2014/main" id="{7E975B60-5843-073A-D432-306CFD5B40D7}"/>
              </a:ext>
            </a:extLst>
          </p:cNvPr>
          <p:cNvSpPr txBox="1"/>
          <p:nvPr/>
        </p:nvSpPr>
        <p:spPr>
          <a:xfrm>
            <a:off x="5594555" y="1348217"/>
            <a:ext cx="5397909" cy="2080783"/>
          </a:xfrm>
          <a:prstGeom prst="roundRect">
            <a:avLst/>
          </a:prstGeom>
          <a:solidFill>
            <a:schemeClr val="bg1">
              <a:lumMod val="95000"/>
            </a:schemeClr>
          </a:solidFill>
          <a:ln>
            <a:solidFill>
              <a:schemeClr val="tx1">
                <a:lumMod val="50000"/>
                <a:lumOff val="50000"/>
              </a:schemeClr>
            </a:solidFill>
          </a:ln>
        </p:spPr>
        <p:txBody>
          <a:bodyPr wrap="square">
            <a:spAutoFit/>
          </a:bodyPr>
          <a:lstStyle/>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National Career Service (NCS)</a:t>
            </a:r>
            <a:r>
              <a:rPr lang="en-US" sz="1050" dirty="0">
                <a:solidFill>
                  <a:srgbClr val="1B1B1B"/>
                </a:solidFill>
                <a:latin typeface="Arial" pitchFamily="34" charset="0"/>
                <a:ea typeface="Arial" pitchFamily="34" charset="-122"/>
                <a:cs typeface="Arial" pitchFamily="34" charset="-120"/>
              </a:rPr>
              <a:t> – Ministry of </a:t>
            </a:r>
            <a:r>
              <a:rPr lang="en-US" sz="1050" dirty="0" err="1">
                <a:solidFill>
                  <a:srgbClr val="1B1B1B"/>
                </a:solidFill>
                <a:latin typeface="Arial" pitchFamily="34" charset="0"/>
                <a:ea typeface="Arial" pitchFamily="34" charset="-122"/>
                <a:cs typeface="Arial" pitchFamily="34" charset="-120"/>
              </a:rPr>
              <a:t>Labour</a:t>
            </a:r>
            <a:r>
              <a:rPr lang="en-US" sz="1050" dirty="0">
                <a:solidFill>
                  <a:srgbClr val="1B1B1B"/>
                </a:solidFill>
                <a:latin typeface="Arial" pitchFamily="34" charset="0"/>
                <a:ea typeface="Arial" pitchFamily="34" charset="-122"/>
                <a:cs typeface="Arial" pitchFamily="34" charset="-120"/>
              </a:rPr>
              <a:t> &amp; Employment – </a:t>
            </a:r>
            <a:r>
              <a:rPr lang="en-US" sz="1050" dirty="0">
                <a:solidFill>
                  <a:srgbClr val="1F6FB2"/>
                </a:solidFill>
                <a:latin typeface="Arial" pitchFamily="34" charset="0"/>
                <a:ea typeface="Arial" pitchFamily="34" charset="-122"/>
                <a:cs typeface="Arial" pitchFamily="34" charset="-120"/>
              </a:rPr>
              <a:t>ncs.gov.in</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AICTE National Internship Portal</a:t>
            </a:r>
            <a:r>
              <a:rPr lang="en-US" sz="1050" dirty="0">
                <a:solidFill>
                  <a:srgbClr val="1B1B1B"/>
                </a:solidFill>
                <a:latin typeface="Arial" pitchFamily="34" charset="0"/>
                <a:ea typeface="Arial" pitchFamily="34" charset="-122"/>
                <a:cs typeface="Arial" pitchFamily="34" charset="-120"/>
              </a:rPr>
              <a:t> – Ministry of Education – </a:t>
            </a:r>
            <a:r>
              <a:rPr lang="en-US" sz="1050" dirty="0">
                <a:solidFill>
                  <a:srgbClr val="1F6FB2"/>
                </a:solidFill>
                <a:latin typeface="Arial" pitchFamily="34" charset="0"/>
                <a:ea typeface="Arial" pitchFamily="34" charset="-122"/>
                <a:cs typeface="Arial" pitchFamily="34" charset="-120"/>
              </a:rPr>
              <a:t>internship.aicte-india.org</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UGC Guidelines for Internship/Research Internship</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ugc.gov.in</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UGC Apprenticeship/Internship Embedded Degree </a:t>
            </a:r>
            <a:r>
              <a:rPr lang="en-US" sz="1050" b="1" dirty="0" err="1">
                <a:solidFill>
                  <a:srgbClr val="1B1B1B"/>
                </a:solidFill>
                <a:latin typeface="Arial" pitchFamily="34" charset="0"/>
                <a:ea typeface="Arial" pitchFamily="34" charset="-122"/>
                <a:cs typeface="Arial" pitchFamily="34" charset="-120"/>
              </a:rPr>
              <a:t>Programme</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ugc.gov.in</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National Education Policy (NEP) 2020</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moe.gov.in</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National Skills Qualification Framework (NSQF)</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skillindia.gov.in</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AICTE Internship Policy &amp; Guidelines</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aicte-india.org</a:t>
            </a:r>
            <a:endParaRPr lang="en-US" sz="1050" dirty="0"/>
          </a:p>
          <a:p>
            <a:pPr marL="127000" indent="-127000">
              <a:lnSpc>
                <a:spcPct val="105000"/>
              </a:lnSpc>
              <a:spcAft>
                <a:spcPts val="300"/>
              </a:spcAft>
              <a:buSzPct val="100000"/>
              <a:buChar char="●"/>
            </a:pPr>
            <a:r>
              <a:rPr lang="en-US" sz="1050" b="1" dirty="0">
                <a:solidFill>
                  <a:srgbClr val="1B1B1B"/>
                </a:solidFill>
                <a:latin typeface="Arial" pitchFamily="34" charset="0"/>
                <a:ea typeface="Arial" pitchFamily="34" charset="-122"/>
                <a:cs typeface="Arial" pitchFamily="34" charset="-120"/>
              </a:rPr>
              <a:t>Ministry of Skill Development &amp; Entrepreneurship (MSDE)</a:t>
            </a:r>
            <a:r>
              <a:rPr lang="en-US" sz="1050" dirty="0">
                <a:solidFill>
                  <a:srgbClr val="1B1B1B"/>
                </a:solidFill>
                <a:latin typeface="Arial" pitchFamily="34" charset="0"/>
                <a:ea typeface="Arial" pitchFamily="34" charset="-122"/>
                <a:cs typeface="Arial" pitchFamily="34" charset="-120"/>
              </a:rPr>
              <a:t> – </a:t>
            </a:r>
            <a:r>
              <a:rPr lang="en-US" sz="1050" dirty="0">
                <a:solidFill>
                  <a:srgbClr val="1F6FB2"/>
                </a:solidFill>
                <a:latin typeface="Arial" pitchFamily="34" charset="0"/>
                <a:ea typeface="Arial" pitchFamily="34" charset="-122"/>
                <a:cs typeface="Arial" pitchFamily="34" charset="-120"/>
              </a:rPr>
              <a:t>skillindia.gov.in</a:t>
            </a:r>
            <a:endParaRPr lang="en-US" sz="1050" dirty="0"/>
          </a:p>
        </p:txBody>
      </p:sp>
      <p:grpSp>
        <p:nvGrpSpPr>
          <p:cNvPr id="13" name="Group 12">
            <a:extLst>
              <a:ext uri="{FF2B5EF4-FFF2-40B4-BE49-F238E27FC236}">
                <a16:creationId xmlns:a16="http://schemas.microsoft.com/office/drawing/2014/main" id="{4E30B300-471A-BD19-FF6D-52B679F27B9F}"/>
              </a:ext>
            </a:extLst>
          </p:cNvPr>
          <p:cNvGrpSpPr/>
          <p:nvPr/>
        </p:nvGrpSpPr>
        <p:grpSpPr>
          <a:xfrm>
            <a:off x="814858" y="1123636"/>
            <a:ext cx="1858297" cy="330514"/>
            <a:chOff x="1502588" y="-178641"/>
            <a:chExt cx="1864356" cy="334716"/>
          </a:xfrm>
          <a:solidFill>
            <a:schemeClr val="bg1">
              <a:lumMod val="85000"/>
            </a:schemeClr>
          </a:solidFill>
        </p:grpSpPr>
        <p:sp>
          <p:nvSpPr>
            <p:cNvPr id="14" name="Rectangle: Rounded Corners 13">
              <a:extLst>
                <a:ext uri="{FF2B5EF4-FFF2-40B4-BE49-F238E27FC236}">
                  <a16:creationId xmlns:a16="http://schemas.microsoft.com/office/drawing/2014/main" id="{D5E6AE1D-6704-B5A6-5E4C-497E1F4A79DF}"/>
                </a:ext>
              </a:extLst>
            </p:cNvPr>
            <p:cNvSpPr/>
            <p:nvPr/>
          </p:nvSpPr>
          <p:spPr>
            <a:xfrm>
              <a:off x="1665494" y="-162041"/>
              <a:ext cx="1452502" cy="318116"/>
            </a:xfrm>
            <a:prstGeom prst="roundRect">
              <a:avLst/>
            </a:prstGeom>
            <a:solidFill>
              <a:schemeClr val="bg1">
                <a:lumMod val="75000"/>
              </a:schemeClr>
            </a:solidFill>
            <a:ln>
              <a:solidFill>
                <a:schemeClr val="tx1">
                  <a:lumMod val="50000"/>
                  <a:lumOff val="50000"/>
                </a:schemeClr>
              </a:solid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15" name="TextBox 14">
              <a:extLst>
                <a:ext uri="{FF2B5EF4-FFF2-40B4-BE49-F238E27FC236}">
                  <a16:creationId xmlns:a16="http://schemas.microsoft.com/office/drawing/2014/main" id="{DE77745F-0FB9-D822-D83B-D7F9750713AF}"/>
                </a:ext>
              </a:extLst>
            </p:cNvPr>
            <p:cNvSpPr txBox="1"/>
            <p:nvPr/>
          </p:nvSpPr>
          <p:spPr>
            <a:xfrm>
              <a:off x="1502588" y="-178641"/>
              <a:ext cx="1864356" cy="244705"/>
            </a:xfrm>
            <a:prstGeom prst="rect">
              <a:avLst/>
            </a:prstGeom>
            <a:noFill/>
          </p:spPr>
          <p:txBody>
            <a:bodyPr wrap="square" rtlCol="0">
              <a:spAutoFit/>
            </a:bodyPr>
            <a:lstStyle/>
            <a:p>
              <a:pPr algn="ctr"/>
              <a:r>
                <a:rPr lang="en-IN" sz="1400" b="1" dirty="0">
                  <a:latin typeface="+mj-lt"/>
                </a:rPr>
                <a:t>Research Papers : </a:t>
              </a:r>
            </a:p>
          </p:txBody>
        </p:sp>
      </p:grpSp>
      <p:grpSp>
        <p:nvGrpSpPr>
          <p:cNvPr id="16" name="Group 15">
            <a:extLst>
              <a:ext uri="{FF2B5EF4-FFF2-40B4-BE49-F238E27FC236}">
                <a16:creationId xmlns:a16="http://schemas.microsoft.com/office/drawing/2014/main" id="{C6259DA1-7C8C-91D1-C46B-B9CC32F5C9E3}"/>
              </a:ext>
            </a:extLst>
          </p:cNvPr>
          <p:cNvGrpSpPr/>
          <p:nvPr/>
        </p:nvGrpSpPr>
        <p:grpSpPr>
          <a:xfrm>
            <a:off x="5866717" y="1110779"/>
            <a:ext cx="4693128" cy="330514"/>
            <a:chOff x="1502588" y="-178641"/>
            <a:chExt cx="1864356" cy="334716"/>
          </a:xfrm>
          <a:solidFill>
            <a:schemeClr val="bg1">
              <a:lumMod val="85000"/>
            </a:schemeClr>
          </a:solidFill>
        </p:grpSpPr>
        <p:sp>
          <p:nvSpPr>
            <p:cNvPr id="17" name="Rectangle: Rounded Corners 16">
              <a:extLst>
                <a:ext uri="{FF2B5EF4-FFF2-40B4-BE49-F238E27FC236}">
                  <a16:creationId xmlns:a16="http://schemas.microsoft.com/office/drawing/2014/main" id="{4EEC597D-D6E1-849D-4259-27BD90F5460A}"/>
                </a:ext>
              </a:extLst>
            </p:cNvPr>
            <p:cNvSpPr/>
            <p:nvPr/>
          </p:nvSpPr>
          <p:spPr>
            <a:xfrm>
              <a:off x="1665494" y="-162041"/>
              <a:ext cx="1452502" cy="318116"/>
            </a:xfrm>
            <a:prstGeom prst="roundRect">
              <a:avLst/>
            </a:prstGeom>
            <a:solidFill>
              <a:schemeClr val="bg1">
                <a:lumMod val="75000"/>
              </a:schemeClr>
            </a:solidFill>
            <a:ln>
              <a:solidFill>
                <a:schemeClr val="tx1">
                  <a:lumMod val="50000"/>
                  <a:lumOff val="50000"/>
                </a:schemeClr>
              </a:solidFill>
            </a:ln>
          </p:spPr>
          <p:style>
            <a:lnRef idx="0">
              <a:scrgbClr r="0" g="0" b="0"/>
            </a:lnRef>
            <a:fillRef idx="0">
              <a:scrgbClr r="0" g="0" b="0"/>
            </a:fillRef>
            <a:effectRef idx="0">
              <a:scrgbClr r="0" g="0" b="0"/>
            </a:effectRef>
            <a:fontRef idx="minor">
              <a:schemeClr val="lt1"/>
            </a:fontRef>
          </p:style>
          <p:txBody>
            <a:bodyPr rtlCol="0" anchor="ctr"/>
            <a:lstStyle/>
            <a:p>
              <a:endParaRPr lang="en-IN" dirty="0"/>
            </a:p>
          </p:txBody>
        </p:sp>
        <p:sp>
          <p:nvSpPr>
            <p:cNvPr id="18" name="TextBox 17">
              <a:extLst>
                <a:ext uri="{FF2B5EF4-FFF2-40B4-BE49-F238E27FC236}">
                  <a16:creationId xmlns:a16="http://schemas.microsoft.com/office/drawing/2014/main" id="{6308851F-86FA-F655-DF8C-34A5A64724CA}"/>
                </a:ext>
              </a:extLst>
            </p:cNvPr>
            <p:cNvSpPr txBox="1"/>
            <p:nvPr/>
          </p:nvSpPr>
          <p:spPr>
            <a:xfrm>
              <a:off x="1502588" y="-178641"/>
              <a:ext cx="1864356" cy="311690"/>
            </a:xfrm>
            <a:prstGeom prst="rect">
              <a:avLst/>
            </a:prstGeom>
            <a:noFill/>
          </p:spPr>
          <p:txBody>
            <a:bodyPr wrap="square" rtlCol="0">
              <a:spAutoFit/>
            </a:bodyPr>
            <a:lstStyle/>
            <a:p>
              <a:pPr algn="ctr"/>
              <a:r>
                <a:rPr lang="en-IN" sz="1400" b="1" dirty="0">
                  <a:latin typeface="+mj-lt"/>
                </a:rPr>
                <a:t>Government Internship and learning portals: </a:t>
              </a:r>
            </a:p>
          </p:txBody>
        </p:sp>
      </p:grpSp>
      <p:sp>
        <p:nvSpPr>
          <p:cNvPr id="3" name="Oval 2" descr="Your startup LOGO">
            <a:extLst>
              <a:ext uri="{FF2B5EF4-FFF2-40B4-BE49-F238E27FC236}">
                <a16:creationId xmlns:a16="http://schemas.microsoft.com/office/drawing/2014/main" id="{1E54818F-91ED-8EEA-D786-DBF13298DF39}"/>
              </a:ext>
              <a:ext uri="{C183D7F6-B498-43B3-948B-1728B52AA6E4}">
                <adec:decorative xmlns:adec="http://schemas.microsoft.com/office/drawing/2017/decorative" val="0"/>
              </a:ext>
            </a:extLst>
          </p:cNvPr>
          <p:cNvSpPr/>
          <p:nvPr/>
        </p:nvSpPr>
        <p:spPr>
          <a:xfrm>
            <a:off x="329775" y="78651"/>
            <a:ext cx="1361374" cy="644417"/>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IN" sz="1600" b="1" dirty="0">
                <a:latin typeface="Calisto MT" panose="02040603050505030304" pitchFamily="18" charset="0"/>
              </a:rPr>
              <a:t>Code</a:t>
            </a:r>
          </a:p>
          <a:p>
            <a:pPr algn="ctr"/>
            <a:r>
              <a:rPr lang="en-IN" sz="1600" b="1" dirty="0">
                <a:latin typeface="Calisto MT" panose="02040603050505030304" pitchFamily="18" charset="0"/>
              </a:rPr>
              <a:t>Hunters</a:t>
            </a:r>
          </a:p>
        </p:txBody>
      </p:sp>
    </p:spTree>
    <p:extLst>
      <p:ext uri="{BB962C8B-B14F-4D97-AF65-F5344CB8AC3E}">
        <p14:creationId xmlns:p14="http://schemas.microsoft.com/office/powerpoint/2010/main" val="3916788613"/>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8363</TotalTime>
  <Words>1190</Words>
  <Application>Microsoft Office PowerPoint</Application>
  <PresentationFormat>Widescreen</PresentationFormat>
  <Paragraphs>186</Paragraphs>
  <Slides>6</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ＭＳ Ｐゴシック</vt:lpstr>
      <vt:lpstr>Aptos Display</vt:lpstr>
      <vt:lpstr>Aptos Narrow</vt:lpstr>
      <vt:lpstr>Arial</vt:lpstr>
      <vt:lpstr>Berlin Sans FB Demi</vt:lpstr>
      <vt:lpstr>Calibri</vt:lpstr>
      <vt:lpstr>Calisto MT</vt:lpstr>
      <vt:lpstr>Times New Roman</vt:lpstr>
      <vt:lpstr>TradeGothic</vt:lpstr>
      <vt:lpstr>Office Theme</vt:lpstr>
      <vt:lpstr>SMART INDIA HACKATHON 2026</vt:lpstr>
      <vt:lpstr>SKILLS SETU -An Intelligent Skill-Profiling and Opportunity Matching Ecosystem</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omkar yargal</cp:lastModifiedBy>
  <cp:revision>150</cp:revision>
  <dcterms:created xsi:type="dcterms:W3CDTF">2013-12-12T18:46:50Z</dcterms:created>
  <dcterms:modified xsi:type="dcterms:W3CDTF">2026-09-07T14:22:04Z</dcterms:modified>
  <cp:category/>
</cp:coreProperties>
</file>